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6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Open cold: this is the one-line pitch. Say it, don't read it — "PropWeb is India's trust-first, AI-powered rental platform: verified owners meet verified tenants directly, no brokers, no fake listings, no spam calls." Pause after the tagline before moving to the problem slide — let the promise land before you justify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Walk both columns — don't just read the tenant side. The room already knows renting is broken; the point is naming both sides of the pain so the solution slide lands as a genuine two-sided fix, not a tenant-only app. If asked "isn't this just NoBroker," hold that for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These four numbers carry the slide — let them breathe, don't rush to the NoBroker line. The NoBroker callout is the pre-emptive answer to "hasn't this already been solved" — say revenue and loss together, in the same breath: proof of demand, proof the trust layer is still broken.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Six pillars, but only two are truly new to the room: Pay-to-Connect and the Trust Score — spend your time there. Verified badges and matchmaking are easy to nod along to; the pay-to-connect economics are what actually kills fake enquiries, so be ready to defend the fee-amount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the natural hand-off to the live demo — after "Connect," say "and I can show you this right now" and switch to the demo app. Have it already loaded to the Koramangala search before this slide so the transition has no dead air.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slide is doing double duty as the moat argument, along with the closing slide — scam prevention, background checks and digital agreements are what a trust-first platform can sell that a lead-selling portal structurally can't retrofit. If a CEO asks "why can't NoBroker just copy this," point back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Two engines, two timeframes — be explicit that "today" funds the company and "tomorrow" is where the real upside is, using NoBroker's own ~50% non-listing mix as the proof point. Don't let this slide turn into a pricing negotiation; final pricing is explicitly TBD with the CEOs.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the mic-drop — deliver the two lines slowly, then stop talking. Let "Existing portals sell leads. PropWeb sells trust." sit before you open the floor. If the ask &amp; close slide raised a decision, circle back to it once more before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exists to pre-empt the "is this market even big enough" question before it's asked — lead with the CAGR, not the dollar figure; growth rate is the more persuasive number in the room. Bengaluru isn't arbitrary: name the three reasons (rental velocity, brokerage pain, digital readiness) so it reads as a decision, not a default.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8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PROPWEB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868680" y="288036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8A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India's trust-first rental platform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68680" y="3520440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2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owners meet verified tenants — directly. No brokers, no fake listings, no spam calls. Powered by an AI decision engine.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68680" y="6035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Pitch · Confidential · July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6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Renting in India is broken on both sides of the deal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6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309360" y="178308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6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240280"/>
            <a:ext cx="5303520" cy="1207008"/>
          </a:xfrm>
          <a:prstGeom prst="roundRect">
            <a:avLst>
              <a:gd name="adj" fmla="val 6061"/>
            </a:avLst>
          </a:prstGeom>
          <a:solidFill>
            <a:srgbClr val="F2F7F5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68680" y="235000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 listings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68680" y="2715768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Attractive flats that are already rented or never existed — posted only to farm leads.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3611880"/>
            <a:ext cx="5303520" cy="1207008"/>
          </a:xfrm>
          <a:prstGeom prst="roundRect">
            <a:avLst>
              <a:gd name="adj" fmla="val 6061"/>
            </a:avLst>
          </a:prstGeom>
          <a:solidFill>
            <a:srgbClr val="F2F7F5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68680" y="372160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chaos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68680" y="4087368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flat listed by 10 brokers at different prices and photos.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5303520" cy="1207008"/>
          </a:xfrm>
          <a:prstGeom prst="roundRect">
            <a:avLst>
              <a:gd name="adj" fmla="val 6061"/>
            </a:avLst>
          </a:prstGeom>
          <a:solidFill>
            <a:srgbClr val="F2F7F5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68680" y="509320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 call storms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68680" y="5458968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enquiry triggers 20–50 broker calls; contact details circulate endlessly.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309360" y="2240280"/>
            <a:ext cx="5303520" cy="1207008"/>
          </a:xfrm>
          <a:prstGeom prst="roundRect">
            <a:avLst>
              <a:gd name="adj" fmla="val 6061"/>
            </a:avLst>
          </a:prstGeom>
          <a:solidFill>
            <a:srgbClr val="F2F7F5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537960" y="235000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Non-genuine tenants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537960" y="2715768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Unqualified enquiries and price-fishers waste hours.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309360" y="3611880"/>
            <a:ext cx="5303520" cy="1207008"/>
          </a:xfrm>
          <a:prstGeom prst="roundRect">
            <a:avLst>
              <a:gd name="adj" fmla="val 6061"/>
            </a:avLst>
          </a:prstGeom>
          <a:solidFill>
            <a:srgbClr val="F2F7F5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537960" y="372160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leaks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37960" y="4087368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 don't want their number and exact address public.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309360" y="4983480"/>
            <a:ext cx="5303520" cy="1207008"/>
          </a:xfrm>
          <a:prstGeom prst="roundRect">
            <a:avLst>
              <a:gd name="adj" fmla="val 6061"/>
            </a:avLst>
          </a:prstGeom>
          <a:solidFill>
            <a:srgbClr val="F2F7F5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537960" y="509320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Coordination load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37960" y="5458968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Juggling tenants, society and security for every viewing.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6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hidden cost is trust — and time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2F7F5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2377440"/>
            <a:ext cx="2606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6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10–20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3291840"/>
            <a:ext cx="22402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properties a tenant visits before finding one that fits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56432" y="210312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2F7F5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56432" y="2377440"/>
            <a:ext cx="2606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6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20–50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3639312" y="3291840"/>
            <a:ext cx="22402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broker calls triggered by a single property enquiry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72784" y="210312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2F7F5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72784" y="2377440"/>
            <a:ext cx="2606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6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55664" y="3291840"/>
            <a:ext cx="22402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 on rental portals today: fake &amp; dead listings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89136" y="210312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2F7F5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089136" y="2377440"/>
            <a:ext cx="2606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6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9272016" y="3291840"/>
            <a:ext cx="22402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spent today verifying who is actually a genuine owner or tenant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0080" y="489204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the category leader proves the gap: NoBroker reached </a:t>
            </a:r>
            <a:pPr indent="0" marL="0">
              <a:buNone/>
            </a:pPr>
            <a:r>
              <a:rPr lang="en-US" sz="14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₹803 Cr revenue (FY24)</a:t>
            </a:r>
            <a:pPr indent="0" marL="0"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30M+ users — yet lost </a:t>
            </a:r>
            <a:pPr indent="0" marL="0">
              <a:buNone/>
            </a:pPr>
            <a:r>
              <a:rPr lang="en-US" sz="14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₹411 Cr</a:t>
            </a:r>
            <a:pPr indent="0" marL="0"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same year, and fake listings remain its #1 complaint. Demand is proven; trust is unsolved.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6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trust-first rental platform with an AI engine at its core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3566160" cy="1783080"/>
          </a:xfrm>
          <a:prstGeom prst="roundRect">
            <a:avLst>
              <a:gd name="adj" fmla="val 4103"/>
            </a:avLst>
          </a:prstGeom>
          <a:solidFill>
            <a:srgbClr val="F2F7F5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68680" y="2258568"/>
            <a:ext cx="292608" cy="292608"/>
          </a:xfrm>
          <a:prstGeom prst="ellipse">
            <a:avLst/>
          </a:prstGeom>
          <a:solidFill>
            <a:srgbClr val="0E6E5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298448" y="2203704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Owner Badge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68680" y="2715768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Aadhaar/PAN, ownership proof and mobile verification — instant-trust mark.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407408" y="2057400"/>
            <a:ext cx="3566160" cy="1783080"/>
          </a:xfrm>
          <a:prstGeom prst="roundRect">
            <a:avLst>
              <a:gd name="adj" fmla="val 4103"/>
            </a:avLst>
          </a:prstGeom>
          <a:solidFill>
            <a:srgbClr val="F2F7F5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636008" y="2258568"/>
            <a:ext cx="292608" cy="292608"/>
          </a:xfrm>
          <a:prstGeom prst="ellipse">
            <a:avLst/>
          </a:prstGeom>
          <a:solidFill>
            <a:srgbClr val="0E6E5C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065776" y="2203704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Tenant Badge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636008" y="2715768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Employment, income range and KYC — owners see who they're renting to.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74736" y="2057400"/>
            <a:ext cx="3566160" cy="1783080"/>
          </a:xfrm>
          <a:prstGeom prst="roundRect">
            <a:avLst>
              <a:gd name="adj" fmla="val 4103"/>
            </a:avLst>
          </a:prstGeom>
          <a:solidFill>
            <a:srgbClr val="F2F7F5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403336" y="2258568"/>
            <a:ext cx="292608" cy="292608"/>
          </a:xfrm>
          <a:prstGeom prst="ellipse">
            <a:avLst/>
          </a:prstGeom>
          <a:solidFill>
            <a:srgbClr val="0E6E5C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833104" y="2203704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Pay-to-Connect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403336" y="2715768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Browsing free; contacts unlock for a small fee. Kills fake &amp; casual enquiries.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023360"/>
            <a:ext cx="3566160" cy="1783080"/>
          </a:xfrm>
          <a:prstGeom prst="roundRect">
            <a:avLst>
              <a:gd name="adj" fmla="val 4103"/>
            </a:avLst>
          </a:prstGeom>
          <a:solidFill>
            <a:srgbClr val="F2F7F5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68680" y="4224528"/>
            <a:ext cx="292608" cy="292608"/>
          </a:xfrm>
          <a:prstGeom prst="ellipse">
            <a:avLst/>
          </a:prstGeom>
          <a:solidFill>
            <a:srgbClr val="0E6E5C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298448" y="4169664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Matchmaking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868680" y="4681728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Budget, location, family/bachelor, furnishing — a match score, like matrimony for rentals.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407408" y="4023360"/>
            <a:ext cx="3566160" cy="1783080"/>
          </a:xfrm>
          <a:prstGeom prst="roundRect">
            <a:avLst>
              <a:gd name="adj" fmla="val 4103"/>
            </a:avLst>
          </a:prstGeom>
          <a:solidFill>
            <a:srgbClr val="F2F7F5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4636008" y="4224528"/>
            <a:ext cx="292608" cy="292608"/>
          </a:xfrm>
          <a:prstGeom prst="ellipse">
            <a:avLst/>
          </a:prstGeom>
          <a:solidFill>
            <a:srgbClr val="0E6E5C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5065776" y="4169664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Rental Trust Score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4636008" y="4681728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+ response rate + freshness + reviews — transparency on every listing.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174736" y="4023360"/>
            <a:ext cx="3566160" cy="1783080"/>
          </a:xfrm>
          <a:prstGeom prst="roundRect">
            <a:avLst>
              <a:gd name="adj" fmla="val 4103"/>
            </a:avLst>
          </a:prstGeom>
          <a:solidFill>
            <a:srgbClr val="F2F7F5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8403336" y="4224528"/>
            <a:ext cx="292608" cy="292608"/>
          </a:xfrm>
          <a:prstGeom prst="ellipse">
            <a:avLst/>
          </a:prstGeom>
          <a:solidFill>
            <a:srgbClr val="0E6E5C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833104" y="4169664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Intelligence, not leads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8403336" y="4681728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engine that recommends, ranks and protects — not a directory selling contacts.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6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verified profile to matched move-in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2606040" cy="2651760"/>
          </a:xfrm>
          <a:prstGeom prst="roundRect">
            <a:avLst>
              <a:gd name="adj" fmla="val 2807"/>
            </a:avLst>
          </a:prstGeom>
          <a:solidFill>
            <a:srgbClr val="F2F7F5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251460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6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Verify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41248" y="3063240"/>
            <a:ext cx="22402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 and tenants complete KYC and earn trust badges before they ever transact.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182112" y="32461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A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456432" y="2286000"/>
            <a:ext cx="2606040" cy="2651760"/>
          </a:xfrm>
          <a:prstGeom prst="roundRect">
            <a:avLst>
              <a:gd name="adj" fmla="val 2807"/>
            </a:avLst>
          </a:prstGeom>
          <a:solidFill>
            <a:srgbClr val="F2F7F5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657600" y="251460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6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Match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3657600" y="3063240"/>
            <a:ext cx="22402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engine scores and recommends properties against each tenant's real needs.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998464" y="32461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A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272784" y="2286000"/>
            <a:ext cx="2606040" cy="2651760"/>
          </a:xfrm>
          <a:prstGeom prst="roundRect">
            <a:avLst>
              <a:gd name="adj" fmla="val 2807"/>
            </a:avLst>
          </a:prstGeom>
          <a:solidFill>
            <a:srgbClr val="F2F7F5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473952" y="251460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6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Connect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473952" y="3063240"/>
            <a:ext cx="22402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pay-to-connect fee unlocks contact — only genuine intent gets through.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814816" y="32461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A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9089136" y="2286000"/>
            <a:ext cx="2606040" cy="2651760"/>
          </a:xfrm>
          <a:prstGeom prst="roundRect">
            <a:avLst>
              <a:gd name="adj" fmla="val 2807"/>
            </a:avLst>
          </a:prstGeom>
          <a:solidFill>
            <a:srgbClr val="EAF3F0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9290304" y="251460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6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Transact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9290304" y="3063240"/>
            <a:ext cx="22402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Score, digital rent agreement and verified parties make closing safe and fast.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0080" y="53492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E6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available — a clickable PropWeb walkthrough (search → trust badges → connect) is ready for this meeting.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6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VENTURE-SCALE VALUE SITS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Problems no one in India solves well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566160" cy="2926080"/>
          </a:xfrm>
          <a:prstGeom prst="roundRect">
            <a:avLst>
              <a:gd name="adj" fmla="val 2500"/>
            </a:avLst>
          </a:prstGeom>
          <a:solidFill>
            <a:srgbClr val="F2F7F5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68680" y="2450592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Rental scam prevention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3291840"/>
            <a:ext cx="31089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Thousands lose money to fake deposits, fake owners and advance-payment fraud. A trust-first platform wins here.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407408" y="2194560"/>
            <a:ext cx="3566160" cy="2926080"/>
          </a:xfrm>
          <a:prstGeom prst="roundRect">
            <a:avLst>
              <a:gd name="adj" fmla="val 2500"/>
            </a:avLst>
          </a:prstGeom>
          <a:solidFill>
            <a:srgbClr val="F2F7F5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636008" y="2450592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background checks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636008" y="3291840"/>
            <a:ext cx="31089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 want verified employment and income on who they're renting to. Today it's manual or absent. (EPFO checks ≈ ₹100 each — buildable.)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74736" y="2194560"/>
            <a:ext cx="3566160" cy="2926080"/>
          </a:xfrm>
          <a:prstGeom prst="roundRect">
            <a:avLst>
              <a:gd name="adj" fmla="val 2500"/>
            </a:avLst>
          </a:prstGeom>
          <a:solidFill>
            <a:srgbClr val="F2F7F5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403336" y="2450592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rent agreements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403336" y="3291840"/>
            <a:ext cx="31089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Fragmented and offline today. Done digitally — e-stamp + Aadhaar eSign (₹10–40/signature) — like a loan approval.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6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engines: connect today, services tomorrow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5303520" cy="3931920"/>
          </a:xfrm>
          <a:prstGeom prst="roundRect">
            <a:avLst>
              <a:gd name="adj" fmla="val 1860"/>
            </a:avLst>
          </a:prstGeom>
          <a:solidFill>
            <a:srgbClr val="EAF3F0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68680" y="22402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A4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— LISTING &amp; CONNECT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51560" y="269748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Pay-to-connect: small fee to unlock verified contact details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1051560" y="347472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listings &amp; visibility for owners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051560" y="425196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Verified-badge and trust-score subscriptions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051560" y="502920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Benchmark: NoBroker charges ₹1,499–₹10,999 per plan — we undercut with per-unlock micro-pricing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09360" y="2011680"/>
            <a:ext cx="5303520" cy="3931920"/>
          </a:xfrm>
          <a:prstGeom prst="roundRect">
            <a:avLst>
              <a:gd name="adj" fmla="val 1860"/>
            </a:avLst>
          </a:prstGeom>
          <a:solidFill>
            <a:srgbClr val="F2F7F5"/>
          </a:solidFill>
          <a:ln w="9525">
            <a:solidFill>
              <a:srgbClr val="D8DEE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37960" y="22402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A4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TOMORROW — LARGER THAN LISTINGS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720840" y="269748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Affiliate services marketplace: packers &amp; movers, cleaning, furniture rental, interiors, property management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720840" y="347472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move-in opens high-margin services revenue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720840" y="425196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it works: NoBroker's non-listing revenue grew to ~50% of its mix by FY26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720840" y="502920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earn when a genuine connection happens — not by reselling the same lead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6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TO SCALE — COST-SAFE BY DESIGN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modern stack, corrected for India economics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74520"/>
          <a:ext cx="109728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206240"/>
                <a:gridCol w="5029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Choice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it wins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5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Frontend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Next.js (React)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SEO locality pages = free Google traffic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Backend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Node.js + TypeScript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language, small team moves fast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 + PostGIS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'Flats within 3 km' queries, reliably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Search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Typesense (self-hosted)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≈$69/mo vs Algolia's ≈$525/mo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Ola Maps / MapmyIndia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tier + best Indian locality data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 Mumbai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KYC data stays in India (DPDP)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Razorpay (UPI-first)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UPI at 0% MDR by RBI mandate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Trust APIs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PAN ₹1–3 · Aadhaar offline/DigiLocker · Exotel masking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legal Aadhaar route — no direct eKYC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5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9893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4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12-month build budget: ₹68L lean · ₹1.14 Cr base · ₹1.78 Cr comfortable — team of 5–6 + fractional roles, one-city MVP in 4 months.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8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1554480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portals sell leads.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68680" y="2286000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A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PropWeb sells trust.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68680" y="36576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Trust-first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68680" y="4160520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2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owners and tenants on both sides — the moat portals can't retrofit.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526280" y="36576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AI-native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526280" y="4160520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2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engine that ranks and matches — not a directory that floods you with calls.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183880" y="36576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revenue engines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183880" y="4160520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2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fees today; a services marketplace larger than listings tomorrow.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68680" y="59436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PropWeb · Let's make renting trustworthy.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spc="300">
                <a:solidFill>
                  <a:srgbClr val="0E6E5C"/>
                </a:solidFill>
                <a:latin typeface="Calibri"/>
              </a:rPr>
              <a:t>THE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A large market with an unsolved trust gap.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103120"/>
            <a:ext cx="2570586" cy="2377440"/>
          </a:xfrm>
          <a:prstGeom prst="roundRect">
            <a:avLst>
              <a:gd name="adj" fmla="val 3077"/>
            </a:avLst>
          </a:prstGeom>
          <a:solidFill>
            <a:srgbClr val="F2F7F5"/>
          </a:solidFill>
          <a:ln w="9525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257058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0E6E5C"/>
                </a:solidFill>
                <a:latin typeface="Calibri"/>
              </a:rPr>
              <a:t>$1.3–1.7B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91840"/>
            <a:ext cx="2204826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0">
                <a:solidFill>
                  <a:srgbClr val="5A6270"/>
                </a:solidFill>
                <a:latin typeface="Calibri"/>
              </a:rPr>
              <a:t>India proptech market size (2025)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0498" y="2103120"/>
            <a:ext cx="2570586" cy="2377440"/>
          </a:xfrm>
          <a:prstGeom prst="roundRect">
            <a:avLst>
              <a:gd name="adj" fmla="val 3077"/>
            </a:avLst>
          </a:prstGeom>
          <a:solidFill>
            <a:srgbClr val="F2F7F5"/>
          </a:solidFill>
          <a:ln w="9525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20498" y="2377440"/>
            <a:ext cx="257058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0E6E5C"/>
                </a:solidFill>
                <a:latin typeface="Calibri"/>
              </a:rPr>
              <a:t>12–19%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3378" y="3291840"/>
            <a:ext cx="2204826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0">
                <a:solidFill>
                  <a:srgbClr val="5A6270"/>
                </a:solidFill>
                <a:latin typeface="Calibri"/>
              </a:rPr>
              <a:t>CAGR — proptech growth rate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0916" y="2103120"/>
            <a:ext cx="2570586" cy="2377440"/>
          </a:xfrm>
          <a:prstGeom prst="roundRect">
            <a:avLst>
              <a:gd name="adj" fmla="val 3077"/>
            </a:avLst>
          </a:prstGeom>
          <a:solidFill>
            <a:srgbClr val="F2F7F5"/>
          </a:solidFill>
          <a:ln w="9525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00916" y="2377440"/>
            <a:ext cx="257058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0E6E5C"/>
                </a:solidFill>
                <a:latin typeface="Calibri"/>
              </a:rPr>
              <a:t>$20B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3796" y="3291840"/>
            <a:ext cx="2204826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0">
                <a:solidFill>
                  <a:srgbClr val="5A6270"/>
                </a:solidFill>
                <a:latin typeface="Calibri"/>
              </a:rPr>
              <a:t>Indian rental market size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81334" y="2103120"/>
            <a:ext cx="2570586" cy="2377440"/>
          </a:xfrm>
          <a:prstGeom prst="roundRect">
            <a:avLst>
              <a:gd name="adj" fmla="val 3077"/>
            </a:avLst>
          </a:prstGeom>
          <a:solidFill>
            <a:srgbClr val="F2F7F5"/>
          </a:solidFill>
          <a:ln w="9525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81334" y="2377440"/>
            <a:ext cx="257058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0E6E5C"/>
                </a:solidFill>
                <a:latin typeface="Calibri"/>
              </a:rPr>
              <a:t>Bengaluru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64214" y="3291840"/>
            <a:ext cx="2204826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0">
                <a:solidFill>
                  <a:srgbClr val="5A6270"/>
                </a:solidFill>
                <a:latin typeface="Calibri"/>
              </a:rPr>
              <a:t>launch wedge: highest rental velocity, highest brokerage pain, most digitally-ready renters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892040"/>
            <a:ext cx="109728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5A6270"/>
                </a:solidFill>
                <a:latin typeface="Calibri"/>
              </a:rPr>
              <a:t>NoBroker already proved renters will pay to skip brokers — </a:t>
            </a:r>
            <a:r>
              <a:rPr sz="1400" b="1">
                <a:solidFill>
                  <a:srgbClr val="141821"/>
                </a:solidFill>
                <a:latin typeface="Calibri"/>
              </a:rPr>
              <a:t>₹803 Cr revenue, 30M+ users</a:t>
            </a:r>
            <a:r>
              <a:rPr sz="1400" b="0">
                <a:solidFill>
                  <a:srgbClr val="5A6270"/>
                </a:solidFill>
                <a:latin typeface="Calibri"/>
              </a:rPr>
              <a:t> — inside a market growing double-digit. Demand is proven; the trust gap PropWeb targets is still wide open.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2026-07-13T04:59:39Z</dcterms:created>
  <dcterms:modified xsi:type="dcterms:W3CDTF">2026-07-13T04:59:39Z</dcterms:modified>
</cp:coreProperties>
</file>