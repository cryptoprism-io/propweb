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10"/>
    <p:sldId id="265" r:id="rId16"/>
    <p:sldId id="266" r:id="rId17"/>
    <p:sldId id="267" r:id="rId18"/>
    <p:sldId id="268" r:id="rId19"/>
    <p:sldId id="269" r:id="rId20"/>
    <p:sldId id="270" r:id="rId21"/>
    <p:sldId id="271" r:id="rId22"/>
    <p:sldId id="272" r:id="rId23"/>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this is the one-line pitch. Say it, don't read it — "PropWeb is India's trust-first, AI-powered rental platform: verified owners meet verified tenants directly, no brokers, no fake listings, no spam calls." Pause after the tagline before moving to the problem slide — let the promise land before you justify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both columns — don't just read the tenant side. The room already knows renting is broken; the point is naming both sides of the pain so the solution slide lands as a genuine two-sided fix, not a tenant-only app. If asked "isn't this just NoBroker," hold that for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four numbers carry the slide — let them breathe, don't rush to the NoBroker line. The NoBroker callout is the pre-emptive answer to "hasn't this already been solved" — say revenue and loss together, in the same breath: proof of demand, proof the trust layer is still broken.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pillars, but only two are truly new to the room: Pay-to-Connect and the Trust Score — spend your time there. Verified badges and matchmaking are easy to nod along to; the pay-to-connect economics are what actually kills fake enquiries, so be ready to defend the fee-amount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natural hand-off to the live demo — after "Connect," say "and I can show you this right now" and switch to the demo app. Have it already loaded to the Koramangala search before this slide so the transition has no dead 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doing double duty as the moat argument, along with the closing slide — scam prevention, background checks and digital agreements are what a trust-first platform can sell that a lead-selling portal structurally can't retrofit. If a CEO asks "why can't NoBroker just copy this," point back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engines, two timeframes — be explicit that "today" funds the company and "tomorrow" is where the real upside is, using NoBroker's own ~50% non-listing mix as the proof point. Don't let this slide turn into a pricing negotiation; final pricing is explicitly TBD with the CEOs.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mic-drop — deliver the two lines slowly, then stop talking. Let "Existing portals sell leads. PropWeb sells trust." sit before you open the floor. If the ask &amp; close slide raised a decision, circle back to it once more before Q&amp;A.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pre-empt the "is this market even big enough" question before it's asked — lead with the CAGR, not the dollar figure; growth rate is the more persuasive number in the room. Bengaluru isn't arbitrary: name the three reasons (rental velocity, brokerage pain, digital readiness) so it reads as a decision, not a default.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on stage — the point is reassurance, not a systems-design lecture. One sentence: "one well-built application, not eleven fragile services, because we're a five-person team for the first year." If a CEO with a technical background pushes on scaling, the honest answer is that a modular monolith splits into services later without a rewrite — say that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row by row — the room doesn't need to know what Typesense is. The only two numbers worth saying out loud are the Algolia cost comparison and the AWS Mumbai/DPDP compliance line, because those are the ones a CEO will actually remember and repeat to an investor.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 say the Puttaswamy line exactly as written on the box, word for word, because it's the one legal fact that must not be garbled on stage. If asked "so we can't use Aadhaar at all," the answer is we can, just not by calling the eKYC API directly — offline XML, DigiLocker, and licensed partners are all legal and all in this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room on the one-city, four-month MVP commitment — that's the number a CEO will hold you to, so say "4 months to a working one-city product" explicitly rather than letting the phase labels speak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is "small team, sequenced hiring" — resist the urge to justify each hire individually. If asked why the founding engineer comes before a designer, the honest answer is that the demo app already exists as proof the frontend/product work doesn't block on that hire yet.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all three scenarios before anyone asks which one to pick — this is a menu, not a recommendation, and the ask on the next slide is a decision between them, not an approval of a single number. If pressed for a personal recommendation, Base is the defensible middle: it funds the full hiring sequence without the Lean scenario's slack risk.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decision slide — say the ask in one sentence before showing the success metrics: "we need a budget scenario approved and a start date for the founding engineer hire." The month-12 metrics exist to answer "how will we know this worked," not to be read verbatim.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05840"/>
          </a:xfrm>
          <a:prstGeom prst="rect">
            <a:avLst/>
          </a:prstGeom>
          <a:noFill/>
          <a:ln/>
        </p:spPr>
        <p:txBody>
          <a:bodyPr wrap="square" rtlCol="0" anchor="ctr"/>
          <a:lstStyle/>
          <a:p>
            <a:pPr indent="0" marL="0">
              <a:buNone/>
            </a:pPr>
            <a:r>
              <a:rPr lang="en-US" sz="6000" b="1" spc="600" kern="0" dirty="0">
                <a:solidFill>
                  <a:srgbClr val="FFFFFF"/>
                </a:solidFill>
                <a:latin typeface="Calibri" pitchFamily="34" charset="0"/>
                <a:ea typeface="Calibri" pitchFamily="34" charset="-122"/>
                <a:cs typeface="Calibri" pitchFamily="34" charset="-120"/>
              </a:rPr>
              <a:t>PROPWEB</a:t>
            </a:r>
            <a:endParaRPr lang="en-US" sz="6000" dirty="0"/>
          </a:p>
        </p:txBody>
      </p:sp>
      <p:sp>
        <p:nvSpPr>
          <p:cNvPr id="3" name="Text 1"/>
          <p:cNvSpPr/>
          <p:nvPr/>
        </p:nvSpPr>
        <p:spPr>
          <a:xfrm>
            <a:off x="868680" y="2880360"/>
            <a:ext cx="10424160" cy="548640"/>
          </a:xfrm>
          <a:prstGeom prst="rect">
            <a:avLst/>
          </a:prstGeom>
          <a:noFill/>
          <a:ln/>
        </p:spPr>
        <p:txBody>
          <a:bodyPr wrap="square" rtlCol="0" anchor="ctr"/>
          <a:lstStyle/>
          <a:p>
            <a:pPr indent="0" marL="0">
              <a:buNone/>
            </a:pPr>
            <a:r>
              <a:rPr lang="en-US" sz="2600" dirty="0">
                <a:solidFill>
                  <a:srgbClr val="E8A13D"/>
                </a:solidFill>
                <a:latin typeface="Calibri" pitchFamily="34" charset="0"/>
                <a:ea typeface="Calibri" pitchFamily="34" charset="-122"/>
                <a:cs typeface="Calibri" pitchFamily="34" charset="-120"/>
              </a:rPr>
              <a:t>India's trust-first rental platform</a:t>
            </a:r>
            <a:endParaRPr lang="en-US" sz="2600" dirty="0"/>
          </a:p>
        </p:txBody>
      </p:sp>
      <p:sp>
        <p:nvSpPr>
          <p:cNvPr id="4" name="Text 2"/>
          <p:cNvSpPr/>
          <p:nvPr/>
        </p:nvSpPr>
        <p:spPr>
          <a:xfrm>
            <a:off x="868680" y="3520440"/>
            <a:ext cx="9601200" cy="822960"/>
          </a:xfrm>
          <a:prstGeom prst="rect">
            <a:avLst/>
          </a:prstGeom>
          <a:noFill/>
          <a:ln/>
        </p:spPr>
        <p:txBody>
          <a:bodyPr wrap="square" rtlCol="0" anchor="ctr"/>
          <a:lstStyle/>
          <a:p>
            <a:pPr indent="0" marL="0">
              <a:buNone/>
            </a:pPr>
            <a:r>
              <a:rPr lang="en-US" sz="1600" dirty="0">
                <a:solidFill>
                  <a:srgbClr val="C9D2D9"/>
                </a:solidFill>
                <a:latin typeface="Calibri" pitchFamily="34" charset="0"/>
                <a:ea typeface="Calibri" pitchFamily="34" charset="-122"/>
                <a:cs typeface="Calibri" pitchFamily="34" charset="-120"/>
              </a:rPr>
              <a:t>Verified owners meet verified tenants — directly. No brokers, no fake listings, no spam calls. Powered by an AI decision engine.</a:t>
            </a:r>
            <a:endParaRPr lang="en-US" sz="1600" dirty="0"/>
          </a:p>
        </p:txBody>
      </p:sp>
      <p:sp>
        <p:nvSpPr>
          <p:cNvPr id="5" name="Text 3"/>
          <p:cNvSpPr/>
          <p:nvPr/>
        </p:nvSpPr>
        <p:spPr>
          <a:xfrm>
            <a:off x="868680" y="6035040"/>
            <a:ext cx="7315200" cy="365760"/>
          </a:xfrm>
          <a:prstGeom prst="rect">
            <a:avLst/>
          </a:prstGeom>
          <a:noFill/>
          <a:ln/>
        </p:spPr>
        <p:txBody>
          <a:bodyPr wrap="square" rtlCol="0" anchor="ctr"/>
          <a:lstStyle/>
          <a:p>
            <a:pPr indent="0" marL="0">
              <a:buNone/>
            </a:pPr>
            <a:r>
              <a:rPr lang="en-US" sz="1200" dirty="0">
                <a:solidFill>
                  <a:srgbClr val="8A94A0"/>
                </a:solidFill>
                <a:latin typeface="Calibri" pitchFamily="34" charset="0"/>
                <a:ea typeface="Calibri" pitchFamily="34" charset="-122"/>
                <a:cs typeface="Calibri" pitchFamily="34" charset="-120"/>
              </a:rPr>
              <a:t>Internal Pitch · Confidential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Renting in India is broken on both sides of the deal</a:t>
            </a:r>
            <a:endParaRPr lang="en-US" sz="3000" dirty="0"/>
          </a:p>
        </p:txBody>
      </p:sp>
      <p:sp>
        <p:nvSpPr>
          <p:cNvPr id="4" name="Text 2"/>
          <p:cNvSpPr/>
          <p:nvPr/>
        </p:nvSpPr>
        <p:spPr>
          <a:xfrm>
            <a:off x="64008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TENANTS</a:t>
            </a:r>
            <a:endParaRPr lang="en-US" sz="1500" dirty="0"/>
          </a:p>
        </p:txBody>
      </p:sp>
      <p:sp>
        <p:nvSpPr>
          <p:cNvPr id="5" name="Text 3"/>
          <p:cNvSpPr/>
          <p:nvPr/>
        </p:nvSpPr>
        <p:spPr>
          <a:xfrm>
            <a:off x="630936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OWNERS</a:t>
            </a:r>
            <a:endParaRPr lang="en-US" sz="1500" dirty="0"/>
          </a:p>
        </p:txBody>
      </p:sp>
      <p:sp>
        <p:nvSpPr>
          <p:cNvPr id="6" name="Shape 4"/>
          <p:cNvSpPr/>
          <p:nvPr/>
        </p:nvSpPr>
        <p:spPr>
          <a:xfrm>
            <a:off x="64008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7" name="Text 5"/>
          <p:cNvSpPr/>
          <p:nvPr/>
        </p:nvSpPr>
        <p:spPr>
          <a:xfrm>
            <a:off x="86868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Fake listings</a:t>
            </a:r>
            <a:endParaRPr lang="en-US" sz="1500" dirty="0"/>
          </a:p>
        </p:txBody>
      </p:sp>
      <p:sp>
        <p:nvSpPr>
          <p:cNvPr id="8" name="Text 6"/>
          <p:cNvSpPr/>
          <p:nvPr/>
        </p:nvSpPr>
        <p:spPr>
          <a:xfrm>
            <a:off x="86868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Attractive flats that are already rented or never existed — posted only to farm leads.</a:t>
            </a:r>
            <a:endParaRPr lang="en-US" sz="1250" dirty="0"/>
          </a:p>
        </p:txBody>
      </p:sp>
      <p:sp>
        <p:nvSpPr>
          <p:cNvPr id="9" name="Shape 7"/>
          <p:cNvSpPr/>
          <p:nvPr/>
        </p:nvSpPr>
        <p:spPr>
          <a:xfrm>
            <a:off x="64008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0" name="Text 8"/>
          <p:cNvSpPr/>
          <p:nvPr/>
        </p:nvSpPr>
        <p:spPr>
          <a:xfrm>
            <a:off x="86868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Duplicate chaos</a:t>
            </a:r>
            <a:endParaRPr lang="en-US" sz="1500" dirty="0"/>
          </a:p>
        </p:txBody>
      </p:sp>
      <p:sp>
        <p:nvSpPr>
          <p:cNvPr id="11" name="Text 9"/>
          <p:cNvSpPr/>
          <p:nvPr/>
        </p:nvSpPr>
        <p:spPr>
          <a:xfrm>
            <a:off x="86868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flat listed by 10 brokers at different prices and photos.</a:t>
            </a:r>
            <a:endParaRPr lang="en-US" sz="1250" dirty="0"/>
          </a:p>
        </p:txBody>
      </p:sp>
      <p:sp>
        <p:nvSpPr>
          <p:cNvPr id="12" name="Shape 10"/>
          <p:cNvSpPr/>
          <p:nvPr/>
        </p:nvSpPr>
        <p:spPr>
          <a:xfrm>
            <a:off x="64008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3" name="Text 11"/>
          <p:cNvSpPr/>
          <p:nvPr/>
        </p:nvSpPr>
        <p:spPr>
          <a:xfrm>
            <a:off x="86868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Spam call storms</a:t>
            </a:r>
            <a:endParaRPr lang="en-US" sz="1500" dirty="0"/>
          </a:p>
        </p:txBody>
      </p:sp>
      <p:sp>
        <p:nvSpPr>
          <p:cNvPr id="14" name="Text 12"/>
          <p:cNvSpPr/>
          <p:nvPr/>
        </p:nvSpPr>
        <p:spPr>
          <a:xfrm>
            <a:off x="86868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enquiry triggers 20–50 broker calls; contact details circulate endlessly.</a:t>
            </a:r>
            <a:endParaRPr lang="en-US" sz="1250" dirty="0"/>
          </a:p>
        </p:txBody>
      </p:sp>
      <p:sp>
        <p:nvSpPr>
          <p:cNvPr id="15" name="Shape 13"/>
          <p:cNvSpPr/>
          <p:nvPr/>
        </p:nvSpPr>
        <p:spPr>
          <a:xfrm>
            <a:off x="630936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6" name="Text 14"/>
          <p:cNvSpPr/>
          <p:nvPr/>
        </p:nvSpPr>
        <p:spPr>
          <a:xfrm>
            <a:off x="653796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Non-genuine tenants</a:t>
            </a:r>
            <a:endParaRPr lang="en-US" sz="1500" dirty="0"/>
          </a:p>
        </p:txBody>
      </p:sp>
      <p:sp>
        <p:nvSpPr>
          <p:cNvPr id="17" name="Text 15"/>
          <p:cNvSpPr/>
          <p:nvPr/>
        </p:nvSpPr>
        <p:spPr>
          <a:xfrm>
            <a:off x="653796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Unqualified enquiries and price-fishers waste hours.</a:t>
            </a:r>
            <a:endParaRPr lang="en-US" sz="1250" dirty="0"/>
          </a:p>
        </p:txBody>
      </p:sp>
      <p:sp>
        <p:nvSpPr>
          <p:cNvPr id="18" name="Shape 16"/>
          <p:cNvSpPr/>
          <p:nvPr/>
        </p:nvSpPr>
        <p:spPr>
          <a:xfrm>
            <a:off x="630936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9" name="Text 17"/>
          <p:cNvSpPr/>
          <p:nvPr/>
        </p:nvSpPr>
        <p:spPr>
          <a:xfrm>
            <a:off x="653796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Privacy leaks</a:t>
            </a:r>
            <a:endParaRPr lang="en-US" sz="1500" dirty="0"/>
          </a:p>
        </p:txBody>
      </p:sp>
      <p:sp>
        <p:nvSpPr>
          <p:cNvPr id="20" name="Text 18"/>
          <p:cNvSpPr/>
          <p:nvPr/>
        </p:nvSpPr>
        <p:spPr>
          <a:xfrm>
            <a:off x="653796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don't want their number and exact address public.</a:t>
            </a:r>
            <a:endParaRPr lang="en-US" sz="1250" dirty="0"/>
          </a:p>
        </p:txBody>
      </p:sp>
      <p:sp>
        <p:nvSpPr>
          <p:cNvPr id="21" name="Shape 19"/>
          <p:cNvSpPr/>
          <p:nvPr/>
        </p:nvSpPr>
        <p:spPr>
          <a:xfrm>
            <a:off x="630936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22" name="Text 20"/>
          <p:cNvSpPr/>
          <p:nvPr/>
        </p:nvSpPr>
        <p:spPr>
          <a:xfrm>
            <a:off x="653796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Coordination load</a:t>
            </a:r>
            <a:endParaRPr lang="en-US" sz="1500" dirty="0"/>
          </a:p>
        </p:txBody>
      </p:sp>
      <p:sp>
        <p:nvSpPr>
          <p:cNvPr id="23" name="Text 21"/>
          <p:cNvSpPr/>
          <p:nvPr/>
        </p:nvSpPr>
        <p:spPr>
          <a:xfrm>
            <a:off x="653796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Juggling tenants, society and security for every viewing.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The hidden cost is trust — and time</a:t>
            </a:r>
            <a:endParaRPr lang="en-US" sz="3000" dirty="0"/>
          </a:p>
        </p:txBody>
      </p:sp>
      <p:sp>
        <p:nvSpPr>
          <p:cNvPr id="4" name="Shape 2"/>
          <p:cNvSpPr/>
          <p:nvPr/>
        </p:nvSpPr>
        <p:spPr>
          <a:xfrm>
            <a:off x="640080"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5" name="Text 3"/>
          <p:cNvSpPr/>
          <p:nvPr/>
        </p:nvSpPr>
        <p:spPr>
          <a:xfrm>
            <a:off x="640080"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10–20</a:t>
            </a:r>
            <a:endParaRPr lang="en-US" sz="4000" dirty="0"/>
          </a:p>
        </p:txBody>
      </p:sp>
      <p:sp>
        <p:nvSpPr>
          <p:cNvPr id="6" name="Text 4"/>
          <p:cNvSpPr/>
          <p:nvPr/>
        </p:nvSpPr>
        <p:spPr>
          <a:xfrm>
            <a:off x="822960"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properties a tenant visits before finding one that fits</a:t>
            </a:r>
            <a:endParaRPr lang="en-US" sz="1250" dirty="0"/>
          </a:p>
        </p:txBody>
      </p:sp>
      <p:sp>
        <p:nvSpPr>
          <p:cNvPr id="7" name="Shape 5"/>
          <p:cNvSpPr/>
          <p:nvPr/>
        </p:nvSpPr>
        <p:spPr>
          <a:xfrm>
            <a:off x="3456432"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8" name="Text 6"/>
          <p:cNvSpPr/>
          <p:nvPr/>
        </p:nvSpPr>
        <p:spPr>
          <a:xfrm>
            <a:off x="3456432"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20–50</a:t>
            </a:r>
            <a:endParaRPr lang="en-US" sz="4000" dirty="0"/>
          </a:p>
        </p:txBody>
      </p:sp>
      <p:sp>
        <p:nvSpPr>
          <p:cNvPr id="9" name="Text 7"/>
          <p:cNvSpPr/>
          <p:nvPr/>
        </p:nvSpPr>
        <p:spPr>
          <a:xfrm>
            <a:off x="3639312"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broker calls triggered by a single property enquiry</a:t>
            </a:r>
            <a:endParaRPr lang="en-US" sz="1250" dirty="0"/>
          </a:p>
        </p:txBody>
      </p:sp>
      <p:sp>
        <p:nvSpPr>
          <p:cNvPr id="10" name="Shape 8"/>
          <p:cNvSpPr/>
          <p:nvPr/>
        </p:nvSpPr>
        <p:spPr>
          <a:xfrm>
            <a:off x="6272784"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1" name="Text 9"/>
          <p:cNvSpPr/>
          <p:nvPr/>
        </p:nvSpPr>
        <p:spPr>
          <a:xfrm>
            <a:off x="6272784"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a:t>
            </a:r>
            <a:endParaRPr lang="en-US" sz="4000" dirty="0"/>
          </a:p>
        </p:txBody>
      </p:sp>
      <p:sp>
        <p:nvSpPr>
          <p:cNvPr id="12" name="Text 10"/>
          <p:cNvSpPr/>
          <p:nvPr/>
        </p:nvSpPr>
        <p:spPr>
          <a:xfrm>
            <a:off x="6455664"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complaint on rental portals today: fake &amp; dead listings</a:t>
            </a:r>
            <a:endParaRPr lang="en-US" sz="1250" dirty="0"/>
          </a:p>
        </p:txBody>
      </p:sp>
      <p:sp>
        <p:nvSpPr>
          <p:cNvPr id="13" name="Shape 11"/>
          <p:cNvSpPr/>
          <p:nvPr/>
        </p:nvSpPr>
        <p:spPr>
          <a:xfrm>
            <a:off x="9089136"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4" name="Text 12"/>
          <p:cNvSpPr/>
          <p:nvPr/>
        </p:nvSpPr>
        <p:spPr>
          <a:xfrm>
            <a:off x="9089136"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₹0</a:t>
            </a:r>
            <a:endParaRPr lang="en-US" sz="4000" dirty="0"/>
          </a:p>
        </p:txBody>
      </p:sp>
      <p:sp>
        <p:nvSpPr>
          <p:cNvPr id="15" name="Text 13"/>
          <p:cNvSpPr/>
          <p:nvPr/>
        </p:nvSpPr>
        <p:spPr>
          <a:xfrm>
            <a:off x="9272016"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spent today verifying who is actually a genuine owner or tenant</a:t>
            </a:r>
            <a:endParaRPr lang="en-US" sz="1250" dirty="0"/>
          </a:p>
        </p:txBody>
      </p:sp>
      <p:sp>
        <p:nvSpPr>
          <p:cNvPr id="16" name="Text 14"/>
          <p:cNvSpPr/>
          <p:nvPr/>
        </p:nvSpPr>
        <p:spPr>
          <a:xfrm>
            <a:off x="640080" y="4892040"/>
            <a:ext cx="10972800" cy="914400"/>
          </a:xfrm>
          <a:prstGeom prst="rect">
            <a:avLst/>
          </a:prstGeom>
          <a:noFill/>
          <a:ln/>
        </p:spPr>
        <p:txBody>
          <a:bodyPr wrap="square" rtlCol="0" anchor="ctr"/>
          <a:lstStyle/>
          <a:p>
            <a:pPr indent="0" marL="0">
              <a:buNone/>
            </a:pPr>
            <a:r>
              <a:rPr lang="en-US" sz="1400" dirty="0">
                <a:solidFill>
                  <a:srgbClr val="5A6270"/>
                </a:solidFill>
                <a:latin typeface="Calibri" pitchFamily="34" charset="0"/>
                <a:ea typeface="Calibri" pitchFamily="34" charset="-122"/>
                <a:cs typeface="Calibri" pitchFamily="34" charset="-120"/>
              </a:rPr>
              <a:t>Even the category leader proves the gap: NoBroker reached </a:t>
            </a:r>
            <a:pPr indent="0" marL="0">
              <a:buNone/>
            </a:pPr>
            <a:r>
              <a:rPr lang="en-US" sz="1400" b="1" dirty="0">
                <a:solidFill>
                  <a:srgbClr val="141821"/>
                </a:solidFill>
                <a:latin typeface="Calibri" pitchFamily="34" charset="0"/>
                <a:ea typeface="Calibri" pitchFamily="34" charset="-122"/>
                <a:cs typeface="Calibri" pitchFamily="34" charset="-120"/>
              </a:rPr>
              <a:t>₹803 Cr revenue (FY24)</a:t>
            </a:r>
            <a:pPr indent="0" marL="0">
              <a:buNone/>
            </a:pPr>
            <a:r>
              <a:rPr lang="en-US" sz="1400" dirty="0">
                <a:solidFill>
                  <a:srgbClr val="5A6270"/>
                </a:solidFill>
                <a:latin typeface="Calibri" pitchFamily="34" charset="0"/>
                <a:ea typeface="Calibri" pitchFamily="34" charset="-122"/>
                <a:cs typeface="Calibri" pitchFamily="34" charset="-120"/>
              </a:rPr>
              <a:t> with 30M+ users — yet lost </a:t>
            </a:r>
            <a:pPr indent="0" marL="0">
              <a:buNone/>
            </a:pPr>
            <a:r>
              <a:rPr lang="en-US" sz="1400" b="1" dirty="0">
                <a:solidFill>
                  <a:srgbClr val="141821"/>
                </a:solidFill>
                <a:latin typeface="Calibri" pitchFamily="34" charset="0"/>
                <a:ea typeface="Calibri" pitchFamily="34" charset="-122"/>
                <a:cs typeface="Calibri" pitchFamily="34" charset="-120"/>
              </a:rPr>
              <a:t>₹411 Cr</a:t>
            </a:r>
            <a:pPr indent="0" marL="0">
              <a:buNone/>
            </a:pPr>
            <a:r>
              <a:rPr lang="en-US" sz="1400" dirty="0">
                <a:solidFill>
                  <a:srgbClr val="5A6270"/>
                </a:solidFill>
                <a:latin typeface="Calibri" pitchFamily="34" charset="0"/>
                <a:ea typeface="Calibri" pitchFamily="34" charset="-122"/>
                <a:cs typeface="Calibri" pitchFamily="34" charset="-120"/>
              </a:rPr>
              <a:t> the same year, and fake listings remain its #1 complaint. Demand is proven; trust is unsolved.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OUR SOLUTION</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A trust-first rental platform with an AI engine at its core</a:t>
            </a:r>
            <a:endParaRPr lang="en-US" sz="3000" dirty="0"/>
          </a:p>
        </p:txBody>
      </p:sp>
      <p:sp>
        <p:nvSpPr>
          <p:cNvPr id="4" name="Shape 2"/>
          <p:cNvSpPr/>
          <p:nvPr/>
        </p:nvSpPr>
        <p:spPr>
          <a:xfrm>
            <a:off x="640080"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5" name="Shape 3"/>
          <p:cNvSpPr/>
          <p:nvPr/>
        </p:nvSpPr>
        <p:spPr>
          <a:xfrm>
            <a:off x="868680" y="2258568"/>
            <a:ext cx="292608" cy="292608"/>
          </a:xfrm>
          <a:prstGeom prst="ellipse">
            <a:avLst/>
          </a:prstGeom>
          <a:solidFill>
            <a:srgbClr val="0E6E5C"/>
          </a:solidFill>
          <a:ln/>
        </p:spPr>
        <p:txBody>
          <a:bodyPr/>
          <a:p/>
        </p:txBody>
      </p:sp>
      <p:sp>
        <p:nvSpPr>
          <p:cNvPr id="6" name="Text 4"/>
          <p:cNvSpPr/>
          <p:nvPr/>
        </p:nvSpPr>
        <p:spPr>
          <a:xfrm>
            <a:off x="1298448"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Owner Badge</a:t>
            </a:r>
            <a:endParaRPr lang="en-US" sz="1450" dirty="0"/>
          </a:p>
        </p:txBody>
      </p:sp>
      <p:sp>
        <p:nvSpPr>
          <p:cNvPr id="7" name="Text 5"/>
          <p:cNvSpPr/>
          <p:nvPr/>
        </p:nvSpPr>
        <p:spPr>
          <a:xfrm>
            <a:off x="868680"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Aadhaar/PAN, ownership proof and mobile verification — instant-trust mark.</a:t>
            </a:r>
            <a:endParaRPr lang="en-US" sz="1200" dirty="0"/>
          </a:p>
        </p:txBody>
      </p:sp>
      <p:sp>
        <p:nvSpPr>
          <p:cNvPr id="8" name="Shape 6"/>
          <p:cNvSpPr/>
          <p:nvPr/>
        </p:nvSpPr>
        <p:spPr>
          <a:xfrm>
            <a:off x="4407408"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9" name="Shape 7"/>
          <p:cNvSpPr/>
          <p:nvPr/>
        </p:nvSpPr>
        <p:spPr>
          <a:xfrm>
            <a:off x="4636008" y="2258568"/>
            <a:ext cx="292608" cy="292608"/>
          </a:xfrm>
          <a:prstGeom prst="ellipse">
            <a:avLst/>
          </a:prstGeom>
          <a:solidFill>
            <a:srgbClr val="0E6E5C"/>
          </a:solidFill>
          <a:ln/>
        </p:spPr>
        <p:txBody>
          <a:bodyPr/>
          <a:p/>
        </p:txBody>
      </p:sp>
      <p:sp>
        <p:nvSpPr>
          <p:cNvPr id="10" name="Text 8"/>
          <p:cNvSpPr/>
          <p:nvPr/>
        </p:nvSpPr>
        <p:spPr>
          <a:xfrm>
            <a:off x="5065776"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Tenant Badge</a:t>
            </a:r>
            <a:endParaRPr lang="en-US" sz="1450" dirty="0"/>
          </a:p>
        </p:txBody>
      </p:sp>
      <p:sp>
        <p:nvSpPr>
          <p:cNvPr id="11" name="Text 9"/>
          <p:cNvSpPr/>
          <p:nvPr/>
        </p:nvSpPr>
        <p:spPr>
          <a:xfrm>
            <a:off x="4636008"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Employment, income range and KYC — owners see who they're renting to.</a:t>
            </a:r>
            <a:endParaRPr lang="en-US" sz="1200" dirty="0"/>
          </a:p>
        </p:txBody>
      </p:sp>
      <p:sp>
        <p:nvSpPr>
          <p:cNvPr id="12" name="Shape 10"/>
          <p:cNvSpPr/>
          <p:nvPr/>
        </p:nvSpPr>
        <p:spPr>
          <a:xfrm>
            <a:off x="8174736"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3" name="Shape 11"/>
          <p:cNvSpPr/>
          <p:nvPr/>
        </p:nvSpPr>
        <p:spPr>
          <a:xfrm>
            <a:off x="8403336" y="2258568"/>
            <a:ext cx="292608" cy="292608"/>
          </a:xfrm>
          <a:prstGeom prst="ellipse">
            <a:avLst/>
          </a:prstGeom>
          <a:solidFill>
            <a:srgbClr val="0E6E5C"/>
          </a:solidFill>
          <a:ln/>
        </p:spPr>
        <p:txBody>
          <a:bodyPr/>
          <a:p/>
        </p:txBody>
      </p:sp>
      <p:sp>
        <p:nvSpPr>
          <p:cNvPr id="14" name="Text 12"/>
          <p:cNvSpPr/>
          <p:nvPr/>
        </p:nvSpPr>
        <p:spPr>
          <a:xfrm>
            <a:off x="8833104"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Pay-to-Connect</a:t>
            </a:r>
            <a:endParaRPr lang="en-US" sz="1450" dirty="0"/>
          </a:p>
        </p:txBody>
      </p:sp>
      <p:sp>
        <p:nvSpPr>
          <p:cNvPr id="15" name="Text 13"/>
          <p:cNvSpPr/>
          <p:nvPr/>
        </p:nvSpPr>
        <p:spPr>
          <a:xfrm>
            <a:off x="8403336"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Browsing free; contacts unlock for a small fee. Kills fake &amp; casual enquiries.</a:t>
            </a:r>
            <a:endParaRPr lang="en-US" sz="1200" dirty="0"/>
          </a:p>
        </p:txBody>
      </p:sp>
      <p:sp>
        <p:nvSpPr>
          <p:cNvPr id="16" name="Shape 14"/>
          <p:cNvSpPr/>
          <p:nvPr/>
        </p:nvSpPr>
        <p:spPr>
          <a:xfrm>
            <a:off x="640080"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7" name="Shape 15"/>
          <p:cNvSpPr/>
          <p:nvPr/>
        </p:nvSpPr>
        <p:spPr>
          <a:xfrm>
            <a:off x="868680" y="4224528"/>
            <a:ext cx="292608" cy="292608"/>
          </a:xfrm>
          <a:prstGeom prst="ellipse">
            <a:avLst/>
          </a:prstGeom>
          <a:solidFill>
            <a:srgbClr val="0E6E5C"/>
          </a:solidFill>
          <a:ln/>
        </p:spPr>
        <p:txBody>
          <a:bodyPr/>
          <a:p/>
        </p:txBody>
      </p:sp>
      <p:sp>
        <p:nvSpPr>
          <p:cNvPr id="18" name="Text 16"/>
          <p:cNvSpPr/>
          <p:nvPr/>
        </p:nvSpPr>
        <p:spPr>
          <a:xfrm>
            <a:off x="1298448"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AI Matchmaking</a:t>
            </a:r>
            <a:endParaRPr lang="en-US" sz="1450" dirty="0"/>
          </a:p>
        </p:txBody>
      </p:sp>
      <p:sp>
        <p:nvSpPr>
          <p:cNvPr id="19" name="Text 17"/>
          <p:cNvSpPr/>
          <p:nvPr/>
        </p:nvSpPr>
        <p:spPr>
          <a:xfrm>
            <a:off x="868680"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Budget, location, family/bachelor, furnishing — a match score, like matrimony for rentals.</a:t>
            </a:r>
            <a:endParaRPr lang="en-US" sz="1200" dirty="0"/>
          </a:p>
        </p:txBody>
      </p:sp>
      <p:sp>
        <p:nvSpPr>
          <p:cNvPr id="20" name="Shape 18"/>
          <p:cNvSpPr/>
          <p:nvPr/>
        </p:nvSpPr>
        <p:spPr>
          <a:xfrm>
            <a:off x="4407408"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1" name="Shape 19"/>
          <p:cNvSpPr/>
          <p:nvPr/>
        </p:nvSpPr>
        <p:spPr>
          <a:xfrm>
            <a:off x="4636008" y="4224528"/>
            <a:ext cx="292608" cy="292608"/>
          </a:xfrm>
          <a:prstGeom prst="ellipse">
            <a:avLst/>
          </a:prstGeom>
          <a:solidFill>
            <a:srgbClr val="0E6E5C"/>
          </a:solidFill>
          <a:ln/>
        </p:spPr>
        <p:txBody>
          <a:bodyPr/>
          <a:p/>
        </p:txBody>
      </p:sp>
      <p:sp>
        <p:nvSpPr>
          <p:cNvPr id="22" name="Text 20"/>
          <p:cNvSpPr/>
          <p:nvPr/>
        </p:nvSpPr>
        <p:spPr>
          <a:xfrm>
            <a:off x="5065776"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Rental Trust Score</a:t>
            </a:r>
            <a:endParaRPr lang="en-US" sz="1450" dirty="0"/>
          </a:p>
        </p:txBody>
      </p:sp>
      <p:sp>
        <p:nvSpPr>
          <p:cNvPr id="23" name="Text 21"/>
          <p:cNvSpPr/>
          <p:nvPr/>
        </p:nvSpPr>
        <p:spPr>
          <a:xfrm>
            <a:off x="4636008"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Verification + response rate + freshness + reviews — transparency on every listing.</a:t>
            </a:r>
            <a:endParaRPr lang="en-US" sz="1200" dirty="0"/>
          </a:p>
        </p:txBody>
      </p:sp>
      <p:sp>
        <p:nvSpPr>
          <p:cNvPr id="24" name="Shape 22"/>
          <p:cNvSpPr/>
          <p:nvPr/>
        </p:nvSpPr>
        <p:spPr>
          <a:xfrm>
            <a:off x="8174736"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5" name="Shape 23"/>
          <p:cNvSpPr/>
          <p:nvPr/>
        </p:nvSpPr>
        <p:spPr>
          <a:xfrm>
            <a:off x="8403336" y="4224528"/>
            <a:ext cx="292608" cy="292608"/>
          </a:xfrm>
          <a:prstGeom prst="ellipse">
            <a:avLst/>
          </a:prstGeom>
          <a:solidFill>
            <a:srgbClr val="0E6E5C"/>
          </a:solidFill>
          <a:ln/>
        </p:spPr>
        <p:txBody>
          <a:bodyPr/>
          <a:p/>
        </p:txBody>
      </p:sp>
      <p:sp>
        <p:nvSpPr>
          <p:cNvPr id="26" name="Text 24"/>
          <p:cNvSpPr/>
          <p:nvPr/>
        </p:nvSpPr>
        <p:spPr>
          <a:xfrm>
            <a:off x="8833104"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Intelligence, not leads</a:t>
            </a:r>
            <a:endParaRPr lang="en-US" sz="1450" dirty="0"/>
          </a:p>
        </p:txBody>
      </p:sp>
      <p:sp>
        <p:nvSpPr>
          <p:cNvPr id="27" name="Text 25"/>
          <p:cNvSpPr/>
          <p:nvPr/>
        </p:nvSpPr>
        <p:spPr>
          <a:xfrm>
            <a:off x="8403336"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An AI engine that recommends, ranks and protects — not a directory selling contacts.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From verified profile to matched move-in</a:t>
            </a:r>
            <a:endParaRPr lang="en-US" sz="3000" dirty="0"/>
          </a:p>
        </p:txBody>
      </p:sp>
      <p:sp>
        <p:nvSpPr>
          <p:cNvPr id="4" name="Shape 2"/>
          <p:cNvSpPr/>
          <p:nvPr/>
        </p:nvSpPr>
        <p:spPr>
          <a:xfrm>
            <a:off x="640080"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5" name="Text 3"/>
          <p:cNvSpPr/>
          <p:nvPr/>
        </p:nvSpPr>
        <p:spPr>
          <a:xfrm>
            <a:off x="841248"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01 · Verify</a:t>
            </a:r>
            <a:endParaRPr lang="en-US" sz="1700" dirty="0"/>
          </a:p>
        </p:txBody>
      </p:sp>
      <p:sp>
        <p:nvSpPr>
          <p:cNvPr id="6" name="Text 4"/>
          <p:cNvSpPr/>
          <p:nvPr/>
        </p:nvSpPr>
        <p:spPr>
          <a:xfrm>
            <a:off x="841248"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and tenants complete KYC and earn trust badges before they ever transact.</a:t>
            </a:r>
            <a:endParaRPr lang="en-US" sz="1250" dirty="0"/>
          </a:p>
        </p:txBody>
      </p:sp>
      <p:sp>
        <p:nvSpPr>
          <p:cNvPr id="7" name="Text 5"/>
          <p:cNvSpPr/>
          <p:nvPr/>
        </p:nvSpPr>
        <p:spPr>
          <a:xfrm>
            <a:off x="3182112"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56432"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9" name="Text 7"/>
          <p:cNvSpPr/>
          <p:nvPr/>
        </p:nvSpPr>
        <p:spPr>
          <a:xfrm>
            <a:off x="3657600"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02 · Match</a:t>
            </a:r>
            <a:endParaRPr lang="en-US" sz="1700" dirty="0"/>
          </a:p>
        </p:txBody>
      </p:sp>
      <p:sp>
        <p:nvSpPr>
          <p:cNvPr id="10" name="Text 8"/>
          <p:cNvSpPr/>
          <p:nvPr/>
        </p:nvSpPr>
        <p:spPr>
          <a:xfrm>
            <a:off x="3657600"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The AI engine scores and recommends properties against each tenant's real needs.</a:t>
            </a:r>
            <a:endParaRPr lang="en-US" sz="1250" dirty="0"/>
          </a:p>
        </p:txBody>
      </p:sp>
      <p:sp>
        <p:nvSpPr>
          <p:cNvPr id="11" name="Text 9"/>
          <p:cNvSpPr/>
          <p:nvPr/>
        </p:nvSpPr>
        <p:spPr>
          <a:xfrm>
            <a:off x="5998464"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72784"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13" name="Text 11"/>
          <p:cNvSpPr/>
          <p:nvPr/>
        </p:nvSpPr>
        <p:spPr>
          <a:xfrm>
            <a:off x="6473952"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03 · Connect</a:t>
            </a:r>
            <a:endParaRPr lang="en-US" sz="1700" dirty="0"/>
          </a:p>
        </p:txBody>
      </p:sp>
      <p:sp>
        <p:nvSpPr>
          <p:cNvPr id="14" name="Text 12"/>
          <p:cNvSpPr/>
          <p:nvPr/>
        </p:nvSpPr>
        <p:spPr>
          <a:xfrm>
            <a:off x="6473952"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 small pay-to-connect fee unlocks contact — only genuine intent gets through.</a:t>
            </a:r>
            <a:endParaRPr lang="en-US" sz="1250" dirty="0"/>
          </a:p>
        </p:txBody>
      </p:sp>
      <p:sp>
        <p:nvSpPr>
          <p:cNvPr id="15" name="Text 13"/>
          <p:cNvSpPr/>
          <p:nvPr/>
        </p:nvSpPr>
        <p:spPr>
          <a:xfrm>
            <a:off x="8814816"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089136" y="2286000"/>
            <a:ext cx="2606040" cy="2651760"/>
          </a:xfrm>
          <a:prstGeom prst="roundRect">
            <a:avLst>
              <a:gd name="adj" fmla="val 2807"/>
            </a:avLst>
          </a:prstGeom>
          <a:solidFill>
            <a:srgbClr val="EAF3F0"/>
          </a:solidFill>
          <a:ln w="9525">
            <a:solidFill>
              <a:srgbClr val="D8DEE4"/>
            </a:solidFill>
            <a:prstDash val="solid"/>
          </a:ln>
        </p:spPr>
        <p:txBody>
          <a:bodyPr/>
          <a:p/>
        </p:txBody>
      </p:sp>
      <p:sp>
        <p:nvSpPr>
          <p:cNvPr id="17" name="Text 15"/>
          <p:cNvSpPr/>
          <p:nvPr/>
        </p:nvSpPr>
        <p:spPr>
          <a:xfrm>
            <a:off x="9290304"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04 · Transact</a:t>
            </a:r>
            <a:endParaRPr lang="en-US" sz="1700" dirty="0"/>
          </a:p>
        </p:txBody>
      </p:sp>
      <p:sp>
        <p:nvSpPr>
          <p:cNvPr id="18" name="Text 16"/>
          <p:cNvSpPr/>
          <p:nvPr/>
        </p:nvSpPr>
        <p:spPr>
          <a:xfrm>
            <a:off x="9290304"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Trust Score, digital rent agreement and verified parties make closing safe and fast.</a:t>
            </a:r>
            <a:endParaRPr lang="en-US" sz="1250" dirty="0"/>
          </a:p>
        </p:txBody>
      </p:sp>
      <p:sp>
        <p:nvSpPr>
          <p:cNvPr id="19" name="Text 17"/>
          <p:cNvSpPr/>
          <p:nvPr/>
        </p:nvSpPr>
        <p:spPr>
          <a:xfrm>
            <a:off x="640080" y="5349240"/>
            <a:ext cx="10972800" cy="457200"/>
          </a:xfrm>
          <a:prstGeom prst="rect">
            <a:avLst/>
          </a:prstGeom>
          <a:noFill/>
          <a:ln/>
        </p:spPr>
        <p:txBody>
          <a:bodyPr wrap="square" rtlCol="0" anchor="ctr"/>
          <a:lstStyle/>
          <a:p>
            <a:pPr indent="0" marL="0">
              <a:buNone/>
            </a:pPr>
            <a:r>
              <a:rPr lang="en-US" sz="1300" i="1" dirty="0">
                <a:solidFill>
                  <a:srgbClr val="0E6E5C"/>
                </a:solidFill>
                <a:latin typeface="Calibri" pitchFamily="34" charset="0"/>
                <a:ea typeface="Calibri" pitchFamily="34" charset="-122"/>
                <a:cs typeface="Calibri" pitchFamily="34" charset="-120"/>
              </a:rPr>
              <a:t>Live demo available — a clickable PropWeb walkthrough (search → trust badges → connect) is ready for this meeting.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WHERE VENTURE-SCALE VALUE SITS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Problems no one in India solves well</a:t>
            </a:r>
            <a:endParaRPr lang="en-US" sz="3000" dirty="0"/>
          </a:p>
        </p:txBody>
      </p:sp>
      <p:sp>
        <p:nvSpPr>
          <p:cNvPr id="4" name="Shape 2"/>
          <p:cNvSpPr/>
          <p:nvPr/>
        </p:nvSpPr>
        <p:spPr>
          <a:xfrm>
            <a:off x="640080"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5" name="Text 3"/>
          <p:cNvSpPr/>
          <p:nvPr/>
        </p:nvSpPr>
        <p:spPr>
          <a:xfrm>
            <a:off x="868680"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Rental scam prevention</a:t>
            </a:r>
            <a:endParaRPr lang="en-US" sz="1600" dirty="0"/>
          </a:p>
        </p:txBody>
      </p:sp>
      <p:sp>
        <p:nvSpPr>
          <p:cNvPr id="6" name="Text 4"/>
          <p:cNvSpPr/>
          <p:nvPr/>
        </p:nvSpPr>
        <p:spPr>
          <a:xfrm>
            <a:off x="868680"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Thousands lose money to fake deposits, fake owners and advance-payment fraud. A trust-first platform wins here.</a:t>
            </a:r>
            <a:endParaRPr lang="en-US" sz="1250" dirty="0"/>
          </a:p>
        </p:txBody>
      </p:sp>
      <p:sp>
        <p:nvSpPr>
          <p:cNvPr id="7" name="Shape 5"/>
          <p:cNvSpPr/>
          <p:nvPr/>
        </p:nvSpPr>
        <p:spPr>
          <a:xfrm>
            <a:off x="4407408"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8" name="Text 6"/>
          <p:cNvSpPr/>
          <p:nvPr/>
        </p:nvSpPr>
        <p:spPr>
          <a:xfrm>
            <a:off x="4636008"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Tenant background checks</a:t>
            </a:r>
            <a:endParaRPr lang="en-US" sz="1600" dirty="0"/>
          </a:p>
        </p:txBody>
      </p:sp>
      <p:sp>
        <p:nvSpPr>
          <p:cNvPr id="9" name="Text 7"/>
          <p:cNvSpPr/>
          <p:nvPr/>
        </p:nvSpPr>
        <p:spPr>
          <a:xfrm>
            <a:off x="4636008"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want verified employment and income on who they're renting to. Today it's manual or absent. (EPFO checks ≈ ₹100 each — buildable.)</a:t>
            </a:r>
            <a:endParaRPr lang="en-US" sz="1250" dirty="0"/>
          </a:p>
        </p:txBody>
      </p:sp>
      <p:sp>
        <p:nvSpPr>
          <p:cNvPr id="10" name="Shape 8"/>
          <p:cNvSpPr/>
          <p:nvPr/>
        </p:nvSpPr>
        <p:spPr>
          <a:xfrm>
            <a:off x="8174736"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11" name="Text 9"/>
          <p:cNvSpPr/>
          <p:nvPr/>
        </p:nvSpPr>
        <p:spPr>
          <a:xfrm>
            <a:off x="8403336"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Digital rent agreements</a:t>
            </a:r>
            <a:endParaRPr lang="en-US" sz="1600" dirty="0"/>
          </a:p>
        </p:txBody>
      </p:sp>
      <p:sp>
        <p:nvSpPr>
          <p:cNvPr id="12" name="Text 10"/>
          <p:cNvSpPr/>
          <p:nvPr/>
        </p:nvSpPr>
        <p:spPr>
          <a:xfrm>
            <a:off x="8403336"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Fragmented and offline today. Done digitally — e-stamp + Aadhaar eSign (₹10–40/signature) — like a loan approval.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BUSINESS MODEL</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Two engines: connect today, services tomorrow</a:t>
            </a:r>
            <a:endParaRPr lang="en-US" sz="3000" dirty="0"/>
          </a:p>
        </p:txBody>
      </p:sp>
      <p:sp>
        <p:nvSpPr>
          <p:cNvPr id="4" name="Shape 2"/>
          <p:cNvSpPr/>
          <p:nvPr/>
        </p:nvSpPr>
        <p:spPr>
          <a:xfrm>
            <a:off x="640080" y="2011680"/>
            <a:ext cx="5303520" cy="3931920"/>
          </a:xfrm>
          <a:prstGeom prst="roundRect">
            <a:avLst>
              <a:gd name="adj" fmla="val 1860"/>
            </a:avLst>
          </a:prstGeom>
          <a:solidFill>
            <a:srgbClr val="EAF3F0"/>
          </a:solidFill>
          <a:ln w="9525">
            <a:solidFill>
              <a:srgbClr val="D8DEE4"/>
            </a:solidFill>
            <a:prstDash val="solid"/>
          </a:ln>
        </p:spPr>
        <p:txBody>
          <a:bodyPr/>
          <a:p/>
        </p:txBody>
      </p:sp>
      <p:sp>
        <p:nvSpPr>
          <p:cNvPr id="5" name="Text 3"/>
          <p:cNvSpPr/>
          <p:nvPr/>
        </p:nvSpPr>
        <p:spPr>
          <a:xfrm>
            <a:off x="86868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TODAY — LISTING &amp; CONNECT</a:t>
            </a:r>
            <a:endParaRPr lang="en-US" sz="1300" dirty="0"/>
          </a:p>
        </p:txBody>
      </p:sp>
      <p:sp>
        <p:nvSpPr>
          <p:cNvPr id="6" name="Text 4"/>
          <p:cNvSpPr/>
          <p:nvPr/>
        </p:nvSpPr>
        <p:spPr>
          <a:xfrm>
            <a:off x="105156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Pay-to-connect: small fee to unlock verified contact details</a:t>
            </a:r>
            <a:endParaRPr lang="en-US" sz="1250" dirty="0"/>
          </a:p>
        </p:txBody>
      </p:sp>
      <p:sp>
        <p:nvSpPr>
          <p:cNvPr id="7" name="Text 5"/>
          <p:cNvSpPr/>
          <p:nvPr/>
        </p:nvSpPr>
        <p:spPr>
          <a:xfrm>
            <a:off x="105156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Premium listings &amp; visibility for owners</a:t>
            </a:r>
            <a:endParaRPr lang="en-US" sz="1250" dirty="0"/>
          </a:p>
        </p:txBody>
      </p:sp>
      <p:sp>
        <p:nvSpPr>
          <p:cNvPr id="8" name="Text 6"/>
          <p:cNvSpPr/>
          <p:nvPr/>
        </p:nvSpPr>
        <p:spPr>
          <a:xfrm>
            <a:off x="105156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Verified-badge and trust-score subscriptions</a:t>
            </a:r>
            <a:endParaRPr lang="en-US" sz="1250" dirty="0"/>
          </a:p>
        </p:txBody>
      </p:sp>
      <p:sp>
        <p:nvSpPr>
          <p:cNvPr id="9" name="Text 7"/>
          <p:cNvSpPr/>
          <p:nvPr/>
        </p:nvSpPr>
        <p:spPr>
          <a:xfrm>
            <a:off x="105156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Benchmark: NoBroker charges ₹1,499–₹10,999 per plan — we undercut with per-unlock micro-pricing</a:t>
            </a:r>
            <a:endParaRPr lang="en-US" sz="1250" dirty="0"/>
          </a:p>
        </p:txBody>
      </p:sp>
      <p:sp>
        <p:nvSpPr>
          <p:cNvPr id="10" name="Shape 8"/>
          <p:cNvSpPr/>
          <p:nvPr/>
        </p:nvSpPr>
        <p:spPr>
          <a:xfrm>
            <a:off x="6309360" y="2011680"/>
            <a:ext cx="5303520" cy="3931920"/>
          </a:xfrm>
          <a:prstGeom prst="roundRect">
            <a:avLst>
              <a:gd name="adj" fmla="val 1860"/>
            </a:avLst>
          </a:prstGeom>
          <a:solidFill>
            <a:srgbClr val="F2F7F5"/>
          </a:solidFill>
          <a:ln w="9525">
            <a:solidFill>
              <a:srgbClr val="D8DEE4"/>
            </a:solidFill>
            <a:prstDash val="solid"/>
          </a:ln>
        </p:spPr>
        <p:txBody>
          <a:bodyPr/>
          <a:p/>
        </p:txBody>
      </p:sp>
      <p:sp>
        <p:nvSpPr>
          <p:cNvPr id="11" name="Text 9"/>
          <p:cNvSpPr/>
          <p:nvPr/>
        </p:nvSpPr>
        <p:spPr>
          <a:xfrm>
            <a:off x="653796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TOMORROW — LARGER THAN LISTINGS</a:t>
            </a:r>
            <a:endParaRPr lang="en-US" sz="1300" dirty="0"/>
          </a:p>
        </p:txBody>
      </p:sp>
      <p:sp>
        <p:nvSpPr>
          <p:cNvPr id="12" name="Text 10"/>
          <p:cNvSpPr/>
          <p:nvPr/>
        </p:nvSpPr>
        <p:spPr>
          <a:xfrm>
            <a:off x="672084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Affiliate services marketplace: packers &amp; movers, cleaning, furniture rental, interiors, property management</a:t>
            </a:r>
            <a:endParaRPr lang="en-US" sz="1250" dirty="0"/>
          </a:p>
        </p:txBody>
      </p:sp>
      <p:sp>
        <p:nvSpPr>
          <p:cNvPr id="13" name="Text 11"/>
          <p:cNvSpPr/>
          <p:nvPr/>
        </p:nvSpPr>
        <p:spPr>
          <a:xfrm>
            <a:off x="672084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Every move-in opens high-margin services revenue</a:t>
            </a:r>
            <a:endParaRPr lang="en-US" sz="1250" dirty="0"/>
          </a:p>
        </p:txBody>
      </p:sp>
      <p:sp>
        <p:nvSpPr>
          <p:cNvPr id="14" name="Text 12"/>
          <p:cNvSpPr/>
          <p:nvPr/>
        </p:nvSpPr>
        <p:spPr>
          <a:xfrm>
            <a:off x="672084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Proof it works: NoBroker's non-listing revenue grew to ~50% of its mix by FY26</a:t>
            </a:r>
            <a:endParaRPr lang="en-US" sz="1250" dirty="0"/>
          </a:p>
        </p:txBody>
      </p:sp>
      <p:sp>
        <p:nvSpPr>
          <p:cNvPr id="15" name="Text 13"/>
          <p:cNvSpPr/>
          <p:nvPr/>
        </p:nvSpPr>
        <p:spPr>
          <a:xfrm>
            <a:off x="672084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We earn when a genuine connection happens — not by reselling the same lead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68680" y="1554480"/>
            <a:ext cx="10424160" cy="731520"/>
          </a:xfrm>
          <a:prstGeom prst="rect">
            <a:avLst/>
          </a:prstGeom>
          <a:noFill/>
          <a:ln/>
        </p:spPr>
        <p:txBody>
          <a:bodyPr wrap="square" rtlCol="0" anchor="ctr"/>
          <a:lstStyle/>
          <a:p>
            <a:pPr indent="0" marL="0">
              <a:buNone/>
            </a:pPr>
            <a:r>
              <a:rPr lang="en-US" sz="3400" b="1" dirty="0">
                <a:solidFill>
                  <a:srgbClr val="8A94A0"/>
                </a:solidFill>
                <a:latin typeface="Calibri" pitchFamily="34" charset="0"/>
                <a:ea typeface="Calibri" pitchFamily="34" charset="-122"/>
                <a:cs typeface="Calibri" pitchFamily="34" charset="-120"/>
              </a:rPr>
              <a:t>Existing portals sell leads.</a:t>
            </a:r>
            <a:endParaRPr lang="en-US" sz="3400" dirty="0"/>
          </a:p>
        </p:txBody>
      </p:sp>
      <p:sp>
        <p:nvSpPr>
          <p:cNvPr id="3" name="Text 1"/>
          <p:cNvSpPr/>
          <p:nvPr/>
        </p:nvSpPr>
        <p:spPr>
          <a:xfrm>
            <a:off x="868680" y="2286000"/>
            <a:ext cx="10424160" cy="822960"/>
          </a:xfrm>
          <a:prstGeom prst="rect">
            <a:avLst/>
          </a:prstGeom>
          <a:noFill/>
          <a:ln/>
        </p:spPr>
        <p:txBody>
          <a:bodyPr wrap="square" rtlCol="0" anchor="ctr"/>
          <a:lstStyle/>
          <a:p>
            <a:pPr indent="0" marL="0">
              <a:buNone/>
            </a:pPr>
            <a:r>
              <a:rPr lang="en-US" sz="4000" b="1" dirty="0">
                <a:solidFill>
                  <a:srgbClr val="E8A13D"/>
                </a:solidFill>
                <a:latin typeface="Calibri" pitchFamily="34" charset="0"/>
                <a:ea typeface="Calibri" pitchFamily="34" charset="-122"/>
                <a:cs typeface="Calibri" pitchFamily="34" charset="-120"/>
              </a:rPr>
              <a:t>PropWeb sells trust.</a:t>
            </a:r>
            <a:endParaRPr lang="en-US" sz="4000" dirty="0"/>
          </a:p>
        </p:txBody>
      </p:sp>
      <p:sp>
        <p:nvSpPr>
          <p:cNvPr id="4" name="Text 2"/>
          <p:cNvSpPr/>
          <p:nvPr/>
        </p:nvSpPr>
        <p:spPr>
          <a:xfrm>
            <a:off x="8686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Trust-first</a:t>
            </a:r>
            <a:endParaRPr lang="en-US" sz="1700" dirty="0"/>
          </a:p>
        </p:txBody>
      </p:sp>
      <p:sp>
        <p:nvSpPr>
          <p:cNvPr id="5" name="Text 3"/>
          <p:cNvSpPr/>
          <p:nvPr/>
        </p:nvSpPr>
        <p:spPr>
          <a:xfrm>
            <a:off x="8686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Verified owners and tenants on both sides — the moat portals can't retrofit.</a:t>
            </a:r>
            <a:endParaRPr lang="en-US" sz="1250" dirty="0"/>
          </a:p>
        </p:txBody>
      </p:sp>
      <p:sp>
        <p:nvSpPr>
          <p:cNvPr id="6" name="Text 4"/>
          <p:cNvSpPr/>
          <p:nvPr/>
        </p:nvSpPr>
        <p:spPr>
          <a:xfrm>
            <a:off x="45262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AI-native</a:t>
            </a:r>
            <a:endParaRPr lang="en-US" sz="1700" dirty="0"/>
          </a:p>
        </p:txBody>
      </p:sp>
      <p:sp>
        <p:nvSpPr>
          <p:cNvPr id="7" name="Text 5"/>
          <p:cNvSpPr/>
          <p:nvPr/>
        </p:nvSpPr>
        <p:spPr>
          <a:xfrm>
            <a:off x="45262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A decision engine that ranks and matches — not a directory that floods you with calls.</a:t>
            </a:r>
            <a:endParaRPr lang="en-US" sz="1250" dirty="0"/>
          </a:p>
        </p:txBody>
      </p:sp>
      <p:sp>
        <p:nvSpPr>
          <p:cNvPr id="8" name="Text 6"/>
          <p:cNvSpPr/>
          <p:nvPr/>
        </p:nvSpPr>
        <p:spPr>
          <a:xfrm>
            <a:off x="81838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Two revenue engines</a:t>
            </a:r>
            <a:endParaRPr lang="en-US" sz="1700" dirty="0"/>
          </a:p>
        </p:txBody>
      </p:sp>
      <p:sp>
        <p:nvSpPr>
          <p:cNvPr id="9" name="Text 7"/>
          <p:cNvSpPr/>
          <p:nvPr/>
        </p:nvSpPr>
        <p:spPr>
          <a:xfrm>
            <a:off x="81838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Connect fees today; a services marketplace larger than listings tomorrow.</a:t>
            </a:r>
            <a:endParaRPr lang="en-US" sz="1250" dirty="0"/>
          </a:p>
        </p:txBody>
      </p:sp>
      <p:sp>
        <p:nvSpPr>
          <p:cNvPr id="10" name="Text 8"/>
          <p:cNvSpPr/>
          <p:nvPr/>
        </p:nvSpPr>
        <p:spPr>
          <a:xfrm>
            <a:off x="868680" y="5943600"/>
            <a:ext cx="10058400" cy="457200"/>
          </a:xfrm>
          <a:prstGeom prst="rect">
            <a:avLst/>
          </a:prstGeom>
          <a:noFill/>
          <a:ln/>
        </p:spPr>
        <p:txBody>
          <a:bodyPr wrap="square" rtlCol="0" anchor="ctr"/>
          <a:lstStyle/>
          <a:p>
            <a:pPr indent="0" marL="0">
              <a:buNone/>
            </a:pPr>
            <a:r>
              <a:rPr lang="en-US" sz="1400" dirty="0">
                <a:solidFill>
                  <a:srgbClr val="8A94A0"/>
                </a:solidFill>
                <a:latin typeface="Calibri" pitchFamily="34" charset="0"/>
                <a:ea typeface="Calibri" pitchFamily="34" charset="-122"/>
                <a:cs typeface="Calibri" pitchFamily="34" charset="-120"/>
              </a:rPr>
              <a:t>PropWeb · Let's make renting trustworthy.</a:t>
            </a:r>
            <a:endParaRPr lang="en-US" sz="1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OPPORTUNITY</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large market with an unsolved trust gap.</a:t>
            </a:r>
          </a:p>
        </p:txBody>
      </p:sp>
      <p:sp>
        <p:nvSpPr>
          <p:cNvPr id="4" name="Rounded Rectangle 3"/>
          <p:cNvSpPr/>
          <p:nvPr/>
        </p:nvSpPr>
        <p:spPr>
          <a:xfrm>
            <a:off x="640080"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2570586" cy="868680"/>
          </a:xfrm>
          <a:prstGeom prst="rect">
            <a:avLst/>
          </a:prstGeom>
          <a:noFill/>
        </p:spPr>
        <p:txBody>
          <a:bodyPr wrap="square" anchor="ctr">
            <a:spAutoFit/>
          </a:bodyPr>
          <a:lstStyle/>
          <a:p>
            <a:pPr algn="ctr"/>
            <a:r>
              <a:rPr sz="3600" b="1">
                <a:solidFill>
                  <a:srgbClr val="0E6E5C"/>
                </a:solidFill>
                <a:latin typeface="Calibri"/>
              </a:rPr>
              <a:t>$1.3–1.7B</a:t>
            </a:r>
          </a:p>
        </p:txBody>
      </p:sp>
      <p:sp>
        <p:nvSpPr>
          <p:cNvPr id="6" name="TextBox 5"/>
          <p:cNvSpPr txBox="1"/>
          <p:nvPr/>
        </p:nvSpPr>
        <p:spPr>
          <a:xfrm>
            <a:off x="822960" y="3291840"/>
            <a:ext cx="2204826" cy="1051560"/>
          </a:xfrm>
          <a:prstGeom prst="rect">
            <a:avLst/>
          </a:prstGeom>
          <a:noFill/>
        </p:spPr>
        <p:txBody>
          <a:bodyPr wrap="square" anchor="t">
            <a:spAutoFit/>
          </a:bodyPr>
          <a:lstStyle/>
          <a:p>
            <a:pPr algn="ctr"/>
            <a:r>
              <a:rPr sz="1250" b="0">
                <a:solidFill>
                  <a:srgbClr val="5A6270"/>
                </a:solidFill>
                <a:latin typeface="Calibri"/>
              </a:rPr>
              <a:t>India proptech market size (2025)</a:t>
            </a:r>
          </a:p>
        </p:txBody>
      </p:sp>
      <p:sp>
        <p:nvSpPr>
          <p:cNvPr id="7" name="Rounded Rectangle 6"/>
          <p:cNvSpPr/>
          <p:nvPr/>
        </p:nvSpPr>
        <p:spPr>
          <a:xfrm>
            <a:off x="3420498"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0498" y="2377440"/>
            <a:ext cx="2570586" cy="868680"/>
          </a:xfrm>
          <a:prstGeom prst="rect">
            <a:avLst/>
          </a:prstGeom>
          <a:noFill/>
        </p:spPr>
        <p:txBody>
          <a:bodyPr wrap="square" anchor="ctr">
            <a:spAutoFit/>
          </a:bodyPr>
          <a:lstStyle/>
          <a:p>
            <a:pPr algn="ctr"/>
            <a:r>
              <a:rPr sz="3600" b="1">
                <a:solidFill>
                  <a:srgbClr val="0E6E5C"/>
                </a:solidFill>
                <a:latin typeface="Calibri"/>
              </a:rPr>
              <a:t>12–19%</a:t>
            </a:r>
          </a:p>
        </p:txBody>
      </p:sp>
      <p:sp>
        <p:nvSpPr>
          <p:cNvPr id="9" name="TextBox 8"/>
          <p:cNvSpPr txBox="1"/>
          <p:nvPr/>
        </p:nvSpPr>
        <p:spPr>
          <a:xfrm>
            <a:off x="3603378" y="3291840"/>
            <a:ext cx="2204826" cy="1051560"/>
          </a:xfrm>
          <a:prstGeom prst="rect">
            <a:avLst/>
          </a:prstGeom>
          <a:noFill/>
        </p:spPr>
        <p:txBody>
          <a:bodyPr wrap="square" anchor="t">
            <a:spAutoFit/>
          </a:bodyPr>
          <a:lstStyle/>
          <a:p>
            <a:pPr algn="ctr"/>
            <a:r>
              <a:rPr sz="1250" b="0">
                <a:solidFill>
                  <a:srgbClr val="5A6270"/>
                </a:solidFill>
                <a:latin typeface="Calibri"/>
              </a:rPr>
              <a:t>CAGR — proptech growth rate</a:t>
            </a:r>
          </a:p>
        </p:txBody>
      </p:sp>
      <p:sp>
        <p:nvSpPr>
          <p:cNvPr id="10" name="Rounded Rectangle 9"/>
          <p:cNvSpPr/>
          <p:nvPr/>
        </p:nvSpPr>
        <p:spPr>
          <a:xfrm>
            <a:off x="6200916"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00916" y="2377440"/>
            <a:ext cx="2570586" cy="868680"/>
          </a:xfrm>
          <a:prstGeom prst="rect">
            <a:avLst/>
          </a:prstGeom>
          <a:noFill/>
        </p:spPr>
        <p:txBody>
          <a:bodyPr wrap="square" anchor="ctr">
            <a:spAutoFit/>
          </a:bodyPr>
          <a:lstStyle/>
          <a:p>
            <a:pPr algn="ctr"/>
            <a:r>
              <a:rPr sz="3600" b="1">
                <a:solidFill>
                  <a:srgbClr val="0E6E5C"/>
                </a:solidFill>
                <a:latin typeface="Calibri"/>
              </a:rPr>
              <a:t>$20B</a:t>
            </a:r>
          </a:p>
        </p:txBody>
      </p:sp>
      <p:sp>
        <p:nvSpPr>
          <p:cNvPr id="12" name="TextBox 11"/>
          <p:cNvSpPr txBox="1"/>
          <p:nvPr/>
        </p:nvSpPr>
        <p:spPr>
          <a:xfrm>
            <a:off x="6383796" y="3291840"/>
            <a:ext cx="2204826" cy="1051560"/>
          </a:xfrm>
          <a:prstGeom prst="rect">
            <a:avLst/>
          </a:prstGeom>
          <a:noFill/>
        </p:spPr>
        <p:txBody>
          <a:bodyPr wrap="square" anchor="t">
            <a:spAutoFit/>
          </a:bodyPr>
          <a:lstStyle/>
          <a:p>
            <a:pPr algn="ctr"/>
            <a:r>
              <a:rPr sz="1250" b="0">
                <a:solidFill>
                  <a:srgbClr val="5A6270"/>
                </a:solidFill>
                <a:latin typeface="Calibri"/>
              </a:rPr>
              <a:t>Indian rental market size</a:t>
            </a:r>
          </a:p>
        </p:txBody>
      </p:sp>
      <p:sp>
        <p:nvSpPr>
          <p:cNvPr id="13" name="Rounded Rectangle 12"/>
          <p:cNvSpPr/>
          <p:nvPr/>
        </p:nvSpPr>
        <p:spPr>
          <a:xfrm>
            <a:off x="8981334"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81334" y="2377440"/>
            <a:ext cx="2570586" cy="868680"/>
          </a:xfrm>
          <a:prstGeom prst="rect">
            <a:avLst/>
          </a:prstGeom>
          <a:noFill/>
        </p:spPr>
        <p:txBody>
          <a:bodyPr wrap="square" anchor="ctr">
            <a:spAutoFit/>
          </a:bodyPr>
          <a:lstStyle/>
          <a:p>
            <a:pPr algn="ctr"/>
            <a:r>
              <a:rPr sz="3600" b="1">
                <a:solidFill>
                  <a:srgbClr val="0E6E5C"/>
                </a:solidFill>
                <a:latin typeface="Calibri"/>
              </a:rPr>
              <a:t>Bengaluru</a:t>
            </a:r>
          </a:p>
        </p:txBody>
      </p:sp>
      <p:sp>
        <p:nvSpPr>
          <p:cNvPr id="15" name="TextBox 14"/>
          <p:cNvSpPr txBox="1"/>
          <p:nvPr/>
        </p:nvSpPr>
        <p:spPr>
          <a:xfrm>
            <a:off x="9164214" y="3291840"/>
            <a:ext cx="2204826" cy="1051560"/>
          </a:xfrm>
          <a:prstGeom prst="rect">
            <a:avLst/>
          </a:prstGeom>
          <a:noFill/>
        </p:spPr>
        <p:txBody>
          <a:bodyPr wrap="square" anchor="t">
            <a:spAutoFit/>
          </a:bodyPr>
          <a:lstStyle/>
          <a:p>
            <a:pPr algn="ctr"/>
            <a:r>
              <a:rPr sz="1250" b="0">
                <a:solidFill>
                  <a:srgbClr val="5A6270"/>
                </a:solidFill>
                <a:latin typeface="Calibri"/>
              </a:rPr>
              <a:t>launch wedge: highest rental velocity, highest brokerage pain, most digitally-ready renters</a:t>
            </a:r>
          </a:p>
        </p:txBody>
      </p:sp>
      <p:sp>
        <p:nvSpPr>
          <p:cNvPr id="16" name="TextBox 15"/>
          <p:cNvSpPr txBox="1"/>
          <p:nvPr/>
        </p:nvSpPr>
        <p:spPr>
          <a:xfrm>
            <a:off x="640080" y="4892040"/>
            <a:ext cx="10972800" cy="914400"/>
          </a:xfrm>
          <a:prstGeom prst="rect">
            <a:avLst/>
          </a:prstGeom>
          <a:noFill/>
        </p:spPr>
        <p:txBody>
          <a:bodyPr wrap="square" anchor="ctr">
            <a:spAutoFit/>
          </a:bodyPr>
          <a:lstStyle/>
          <a:p>
            <a:pPr algn="l"/>
            <a:r>
              <a:rPr sz="1400" b="0">
                <a:solidFill>
                  <a:srgbClr val="5A6270"/>
                </a:solidFill>
                <a:latin typeface="Calibri"/>
              </a:rPr>
              <a:t>NoBroker already proved renters will pay to skip brokers — </a:t>
            </a:r>
            <a:r>
              <a:rPr sz="1400" b="1">
                <a:solidFill>
                  <a:srgbClr val="141821"/>
                </a:solidFill>
                <a:latin typeface="Calibri"/>
              </a:rPr>
              <a:t>₹803 Cr revenue, 30M+ users</a:t>
            </a:r>
            <a:r>
              <a:rPr sz="1400" b="0">
                <a:solidFill>
                  <a:srgbClr val="5A6270"/>
                </a:solidFill>
                <a:latin typeface="Calibri"/>
              </a:rPr>
              <a:t> — inside a market growing double-digit. Demand is proven; the trust gap PropWeb targets is still wide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ARCHITECTURE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One well-organised building, not eleven services.</a:t>
            </a:r>
          </a:p>
        </p:txBody>
      </p:sp>
      <p:sp>
        <p:nvSpPr>
          <p:cNvPr id="4" name="Rounded Rectangle 3"/>
          <p:cNvSpPr/>
          <p:nvPr/>
        </p:nvSpPr>
        <p:spPr>
          <a:xfrm>
            <a:off x="640080" y="2103120"/>
            <a:ext cx="10911840" cy="3474720"/>
          </a:xfrm>
          <a:prstGeom prst="roundRect">
            <a:avLst>
              <a:gd name="adj" fmla="val 3000"/>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77440"/>
            <a:ext cx="10454640" cy="365760"/>
          </a:xfrm>
          <a:prstGeom prst="rect">
            <a:avLst/>
          </a:prstGeom>
          <a:noFill/>
        </p:spPr>
        <p:txBody>
          <a:bodyPr wrap="square" anchor="ctr">
            <a:spAutoFit/>
          </a:bodyPr>
          <a:lstStyle/>
          <a:p>
            <a:pPr algn="l"/>
            <a:r>
              <a:rPr sz="1500" b="1">
                <a:solidFill>
                  <a:srgbClr val="141821"/>
                </a:solidFill>
                <a:latin typeface="Calibri"/>
              </a:rPr>
              <a:t>PropWeb — modular monolith</a:t>
            </a:r>
          </a:p>
        </p:txBody>
      </p:sp>
      <p:sp>
        <p:nvSpPr>
          <p:cNvPr id="6" name="Rounded Rectangle 5"/>
          <p:cNvSpPr/>
          <p:nvPr/>
        </p:nvSpPr>
        <p:spPr>
          <a:xfrm>
            <a:off x="86868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960000"/>
            <a:ext cx="2476500" cy="1000000"/>
          </a:xfrm>
          <a:prstGeom prst="rect">
            <a:avLst/>
          </a:prstGeom>
          <a:noFill/>
        </p:spPr>
        <p:txBody>
          <a:bodyPr wrap="square" anchor="ctr">
            <a:spAutoFit/>
          </a:bodyPr>
          <a:lstStyle/>
          <a:p>
            <a:pPr algn="ctr"/>
            <a:r>
              <a:rPr sz="1300" b="1">
                <a:solidFill>
                  <a:srgbClr val="0E6E5C"/>
                </a:solidFill>
                <a:latin typeface="Calibri"/>
              </a:rPr>
              <a:t>Listings &amp; Search</a:t>
            </a:r>
          </a:p>
        </p:txBody>
      </p:sp>
      <p:sp>
        <p:nvSpPr>
          <p:cNvPr id="8" name="Rounded Rectangle 7"/>
          <p:cNvSpPr/>
          <p:nvPr/>
        </p:nvSpPr>
        <p:spPr>
          <a:xfrm>
            <a:off x="352806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8060" y="2960000"/>
            <a:ext cx="2476500" cy="1000000"/>
          </a:xfrm>
          <a:prstGeom prst="rect">
            <a:avLst/>
          </a:prstGeom>
          <a:noFill/>
        </p:spPr>
        <p:txBody>
          <a:bodyPr wrap="square" anchor="ctr">
            <a:spAutoFit/>
          </a:bodyPr>
          <a:lstStyle/>
          <a:p>
            <a:pPr algn="ctr"/>
            <a:r>
              <a:rPr sz="1300" b="1">
                <a:solidFill>
                  <a:srgbClr val="0E6E5C"/>
                </a:solidFill>
                <a:latin typeface="Calibri"/>
              </a:rPr>
              <a:t>Trust &amp; KYC</a:t>
            </a:r>
          </a:p>
        </p:txBody>
      </p:sp>
      <p:sp>
        <p:nvSpPr>
          <p:cNvPr id="10" name="Rounded Rectangle 9"/>
          <p:cNvSpPr/>
          <p:nvPr/>
        </p:nvSpPr>
        <p:spPr>
          <a:xfrm>
            <a:off x="618744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7440" y="2960000"/>
            <a:ext cx="2476500" cy="1000000"/>
          </a:xfrm>
          <a:prstGeom prst="rect">
            <a:avLst/>
          </a:prstGeom>
          <a:noFill/>
        </p:spPr>
        <p:txBody>
          <a:bodyPr wrap="square" anchor="ctr">
            <a:spAutoFit/>
          </a:bodyPr>
          <a:lstStyle/>
          <a:p>
            <a:pPr algn="ctr"/>
            <a:r>
              <a:rPr sz="1300" b="1">
                <a:solidFill>
                  <a:srgbClr val="0E6E5C"/>
                </a:solidFill>
                <a:latin typeface="Calibri"/>
              </a:rPr>
              <a:t>Matching Engine</a:t>
            </a:r>
          </a:p>
        </p:txBody>
      </p:sp>
      <p:sp>
        <p:nvSpPr>
          <p:cNvPr id="12" name="Rounded Rectangle 11"/>
          <p:cNvSpPr/>
          <p:nvPr/>
        </p:nvSpPr>
        <p:spPr>
          <a:xfrm>
            <a:off x="884682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46820" y="2960000"/>
            <a:ext cx="2476500" cy="1000000"/>
          </a:xfrm>
          <a:prstGeom prst="rect">
            <a:avLst/>
          </a:prstGeom>
          <a:noFill/>
        </p:spPr>
        <p:txBody>
          <a:bodyPr wrap="square" anchor="ctr">
            <a:spAutoFit/>
          </a:bodyPr>
          <a:lstStyle/>
          <a:p>
            <a:pPr algn="ctr"/>
            <a:r>
              <a:rPr sz="1300" b="1">
                <a:solidFill>
                  <a:srgbClr val="0E6E5C"/>
                </a:solidFill>
                <a:latin typeface="Calibri"/>
              </a:rPr>
              <a:t>Connect &amp; Payments</a:t>
            </a:r>
          </a:p>
        </p:txBody>
      </p:sp>
      <p:sp>
        <p:nvSpPr>
          <p:cNvPr id="14" name="TextBox 13"/>
          <p:cNvSpPr txBox="1"/>
          <p:nvPr/>
        </p:nvSpPr>
        <p:spPr>
          <a:xfrm>
            <a:off x="640080" y="5738160"/>
            <a:ext cx="10911840" cy="365760"/>
          </a:xfrm>
          <a:prstGeom prst="rect">
            <a:avLst/>
          </a:prstGeom>
          <a:noFill/>
        </p:spPr>
        <p:txBody>
          <a:bodyPr wrap="square" anchor="ctr">
            <a:spAutoFit/>
          </a:bodyPr>
          <a:lstStyle/>
          <a:p>
            <a:pPr algn="l"/>
            <a:r>
              <a:rPr sz="1400" b="0">
                <a:solidFill>
                  <a:srgbClr val="5A6270"/>
                </a:solidFill>
                <a:latin typeface="Calibri"/>
              </a:rPr>
              <a:t>Small team, one codebase, one language (TypeScript) — ship fast without distributed-systems overhead.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STACK</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modern stack, corrected for India economics.</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2743680"/>
                <a:gridCol w="3200000"/>
                <a:gridCol w="4968160"/>
              </a:tblGrid>
              <a:tr h="345454">
                <a:tc>
                  <a:txBody>
                    <a:bodyPr/>
                    <a:lstStyle/>
                    <a:p>
                      <a:r>
                        <a:rPr sz="1250" b="1">
                          <a:solidFill>
                            <a:srgbClr val="141821"/>
                          </a:solidFill>
                          <a:latin typeface="Calibri"/>
                        </a:rPr>
                        <a:t>Layer</a:t>
                      </a:r>
                    </a:p>
                  </a:txBody>
                  <a:tcPr>
                    <a:solidFill>
                      <a:srgbClr val="F2F7F5"/>
                    </a:solidFill>
                  </a:tcPr>
                </a:tc>
                <a:tc>
                  <a:txBody>
                    <a:bodyPr/>
                    <a:lstStyle/>
                    <a:p>
                      <a:r>
                        <a:rPr sz="1250" b="1">
                          <a:solidFill>
                            <a:srgbClr val="141821"/>
                          </a:solidFill>
                          <a:latin typeface="Calibri"/>
                        </a:rPr>
                        <a:t>Choice</a:t>
                      </a:r>
                    </a:p>
                  </a:txBody>
                  <a:tcPr>
                    <a:solidFill>
                      <a:srgbClr val="F2F7F5"/>
                    </a:solidFill>
                  </a:tcPr>
                </a:tc>
                <a:tc>
                  <a:txBody>
                    <a:bodyPr/>
                    <a:lstStyle/>
                    <a:p>
                      <a:r>
                        <a:rPr sz="1250" b="1">
                          <a:solidFill>
                            <a:srgbClr val="141821"/>
                          </a:solidFill>
                          <a:latin typeface="Calibri"/>
                        </a:rPr>
                        <a:t>Why it wins</a:t>
                      </a:r>
                    </a:p>
                  </a:txBody>
                  <a:tcPr>
                    <a:solidFill>
                      <a:srgbClr val="F2F7F5"/>
                    </a:solidFill>
                  </a:tcPr>
                </a:tc>
              </a:tr>
              <a:tr h="345454">
                <a:tc>
                  <a:txBody>
                    <a:bodyPr/>
                    <a:lstStyle/>
                    <a:p>
                      <a:r>
                        <a:rPr sz="1200" b="0">
                          <a:solidFill>
                            <a:srgbClr val="5A6270"/>
                          </a:solidFill>
                          <a:latin typeface="Calibri"/>
                        </a:rPr>
                        <a:t>Frontend</a:t>
                      </a:r>
                    </a:p>
                  </a:txBody>
                  <a:tcPr>
                    <a:solidFill>
                      <a:srgbClr val="FFFFFF"/>
                    </a:solidFill>
                  </a:tcPr>
                </a:tc>
                <a:tc>
                  <a:txBody>
                    <a:bodyPr/>
                    <a:lstStyle/>
                    <a:p>
                      <a:r>
                        <a:rPr sz="1200" b="0">
                          <a:solidFill>
                            <a:srgbClr val="5A6270"/>
                          </a:solidFill>
                          <a:latin typeface="Calibri"/>
                        </a:rPr>
                        <a:t>Next.js (React)</a:t>
                      </a:r>
                    </a:p>
                  </a:txBody>
                  <a:tcPr>
                    <a:solidFill>
                      <a:srgbClr val="FFFFFF"/>
                    </a:solidFill>
                  </a:tcPr>
                </a:tc>
                <a:tc>
                  <a:txBody>
                    <a:bodyPr/>
                    <a:lstStyle/>
                    <a:p>
                      <a:r>
                        <a:rPr sz="1200" b="0">
                          <a:solidFill>
                            <a:srgbClr val="5A6270"/>
                          </a:solidFill>
                          <a:latin typeface="Calibri"/>
                        </a:rPr>
                        <a:t>SEO locality pages = free Google traffic</a:t>
                      </a:r>
                    </a:p>
                  </a:txBody>
                  <a:tcPr>
                    <a:solidFill>
                      <a:srgbClr val="FFFFFF"/>
                    </a:solidFill>
                  </a:tcPr>
                </a:tc>
              </a:tr>
              <a:tr h="345454">
                <a:tc>
                  <a:txBody>
                    <a:bodyPr/>
                    <a:lstStyle/>
                    <a:p>
                      <a:r>
                        <a:rPr sz="1200" b="0">
                          <a:solidFill>
                            <a:srgbClr val="5A6270"/>
                          </a:solidFill>
                          <a:latin typeface="Calibri"/>
                        </a:rPr>
                        <a:t>Backend</a:t>
                      </a:r>
                    </a:p>
                  </a:txBody>
                  <a:tcPr>
                    <a:solidFill>
                      <a:srgbClr val="F2F7F5"/>
                    </a:solidFill>
                  </a:tcPr>
                </a:tc>
                <a:tc>
                  <a:txBody>
                    <a:bodyPr/>
                    <a:lstStyle/>
                    <a:p>
                      <a:r>
                        <a:rPr sz="1200" b="0">
                          <a:solidFill>
                            <a:srgbClr val="5A6270"/>
                          </a:solidFill>
                          <a:latin typeface="Calibri"/>
                        </a:rPr>
                        <a:t>Node.js + TypeScript</a:t>
                      </a:r>
                    </a:p>
                  </a:txBody>
                  <a:tcPr>
                    <a:solidFill>
                      <a:srgbClr val="F2F7F5"/>
                    </a:solidFill>
                  </a:tcPr>
                </a:tc>
                <a:tc>
                  <a:txBody>
                    <a:bodyPr/>
                    <a:lstStyle/>
                    <a:p>
                      <a:r>
                        <a:rPr sz="1200" b="0">
                          <a:solidFill>
                            <a:srgbClr val="5A6270"/>
                          </a:solidFill>
                          <a:latin typeface="Calibri"/>
                        </a:rPr>
                        <a:t>One language, small team moves fast</a:t>
                      </a:r>
                    </a:p>
                  </a:txBody>
                  <a:tcPr>
                    <a:solidFill>
                      <a:srgbClr val="F2F7F5"/>
                    </a:solidFill>
                  </a:tcPr>
                </a:tc>
              </a:tr>
              <a:tr h="345454">
                <a:tc>
                  <a:txBody>
                    <a:bodyPr/>
                    <a:lstStyle/>
                    <a:p>
                      <a:r>
                        <a:rPr sz="1200" b="0">
                          <a:solidFill>
                            <a:srgbClr val="5A6270"/>
                          </a:solidFill>
                          <a:latin typeface="Calibri"/>
                        </a:rPr>
                        <a:t>Database</a:t>
                      </a:r>
                    </a:p>
                  </a:txBody>
                  <a:tcPr>
                    <a:solidFill>
                      <a:srgbClr val="FFFFFF"/>
                    </a:solidFill>
                  </a:tcPr>
                </a:tc>
                <a:tc>
                  <a:txBody>
                    <a:bodyPr/>
                    <a:lstStyle/>
                    <a:p>
                      <a:r>
                        <a:rPr sz="1200" b="0">
                          <a:solidFill>
                            <a:srgbClr val="5A6270"/>
                          </a:solidFill>
                          <a:latin typeface="Calibri"/>
                        </a:rPr>
                        <a:t>PostgreSQL + PostGIS</a:t>
                      </a:r>
                    </a:p>
                  </a:txBody>
                  <a:tcPr>
                    <a:solidFill>
                      <a:srgbClr val="FFFFFF"/>
                    </a:solidFill>
                  </a:tcPr>
                </a:tc>
                <a:tc>
                  <a:txBody>
                    <a:bodyPr/>
                    <a:lstStyle/>
                    <a:p>
                      <a:r>
                        <a:rPr sz="1200" b="0">
                          <a:solidFill>
                            <a:srgbClr val="5A6270"/>
                          </a:solidFill>
                          <a:latin typeface="Calibri"/>
                        </a:rPr>
                        <a:t>'Flats within 3 km' queries, reliably</a:t>
                      </a:r>
                    </a:p>
                  </a:txBody>
                  <a:tcPr>
                    <a:solidFill>
                      <a:srgbClr val="FFFFFF"/>
                    </a:solidFill>
                  </a:tcPr>
                </a:tc>
              </a:tr>
              <a:tr h="345454">
                <a:tc>
                  <a:txBody>
                    <a:bodyPr/>
                    <a:lstStyle/>
                    <a:p>
                      <a:r>
                        <a:rPr sz="1200" b="0">
                          <a:solidFill>
                            <a:srgbClr val="5A6270"/>
                          </a:solidFill>
                          <a:latin typeface="Calibri"/>
                        </a:rPr>
                        <a:t>Search</a:t>
                      </a:r>
                    </a:p>
                  </a:txBody>
                  <a:tcPr>
                    <a:solidFill>
                      <a:srgbClr val="F2F7F5"/>
                    </a:solidFill>
                  </a:tcPr>
                </a:tc>
                <a:tc>
                  <a:txBody>
                    <a:bodyPr/>
                    <a:lstStyle/>
                    <a:p>
                      <a:r>
                        <a:rPr sz="1200" b="0">
                          <a:solidFill>
                            <a:srgbClr val="5A6270"/>
                          </a:solidFill>
                          <a:latin typeface="Calibri"/>
                        </a:rPr>
                        <a:t>Typesense (self-hosted)</a:t>
                      </a:r>
                    </a:p>
                  </a:txBody>
                  <a:tcPr>
                    <a:solidFill>
                      <a:srgbClr val="F2F7F5"/>
                    </a:solidFill>
                  </a:tcPr>
                </a:tc>
                <a:tc>
                  <a:txBody>
                    <a:bodyPr/>
                    <a:lstStyle/>
                    <a:p>
                      <a:r>
                        <a:rPr sz="1200" b="0">
                          <a:solidFill>
                            <a:srgbClr val="5A6270"/>
                          </a:solidFill>
                          <a:latin typeface="Calibri"/>
                        </a:rPr>
                        <a:t>~$69/mo vs Algolia ~$525/mo</a:t>
                      </a:r>
                    </a:p>
                  </a:txBody>
                  <a:tcPr>
                    <a:solidFill>
                      <a:srgbClr val="F2F7F5"/>
                    </a:solidFill>
                  </a:tcPr>
                </a:tc>
              </a:tr>
              <a:tr h="345454">
                <a:tc>
                  <a:txBody>
                    <a:bodyPr/>
                    <a:lstStyle/>
                    <a:p>
                      <a:r>
                        <a:rPr sz="1200" b="0">
                          <a:solidFill>
                            <a:srgbClr val="5A6270"/>
                          </a:solidFill>
                          <a:latin typeface="Calibri"/>
                        </a:rPr>
                        <a:t>Maps</a:t>
                      </a:r>
                    </a:p>
                  </a:txBody>
                  <a:tcPr>
                    <a:solidFill>
                      <a:srgbClr val="FFFFFF"/>
                    </a:solidFill>
                  </a:tcPr>
                </a:tc>
                <a:tc>
                  <a:txBody>
                    <a:bodyPr/>
                    <a:lstStyle/>
                    <a:p>
                      <a:r>
                        <a:rPr sz="1200" b="0">
                          <a:solidFill>
                            <a:srgbClr val="5A6270"/>
                          </a:solidFill>
                          <a:latin typeface="Calibri"/>
                        </a:rPr>
                        <a:t>Ola Maps / MapmyIndia</a:t>
                      </a:r>
                    </a:p>
                  </a:txBody>
                  <a:tcPr>
                    <a:solidFill>
                      <a:srgbClr val="FFFFFF"/>
                    </a:solidFill>
                  </a:tcPr>
                </a:tc>
                <a:tc>
                  <a:txBody>
                    <a:bodyPr/>
                    <a:lstStyle/>
                    <a:p>
                      <a:r>
                        <a:rPr sz="1200" b="0">
                          <a:solidFill>
                            <a:srgbClr val="5A6270"/>
                          </a:solidFill>
                          <a:latin typeface="Calibri"/>
                        </a:rPr>
                        <a:t>Free tier + best Indian locality data</a:t>
                      </a:r>
                    </a:p>
                  </a:txBody>
                  <a:tcPr>
                    <a:solidFill>
                      <a:srgbClr val="FFFFFF"/>
                    </a:solidFill>
                  </a:tcPr>
                </a:tc>
              </a:tr>
              <a:tr h="345454">
                <a:tc>
                  <a:txBody>
                    <a:bodyPr/>
                    <a:lstStyle/>
                    <a:p>
                      <a:r>
                        <a:rPr sz="1200" b="0">
                          <a:solidFill>
                            <a:srgbClr val="5A6270"/>
                          </a:solidFill>
                          <a:latin typeface="Calibri"/>
                        </a:rPr>
                        <a:t>Cloud</a:t>
                      </a:r>
                    </a:p>
                  </a:txBody>
                  <a:tcPr>
                    <a:solidFill>
                      <a:srgbClr val="F2F7F5"/>
                    </a:solidFill>
                  </a:tcPr>
                </a:tc>
                <a:tc>
                  <a:txBody>
                    <a:bodyPr/>
                    <a:lstStyle/>
                    <a:p>
                      <a:r>
                        <a:rPr sz="1200" b="0">
                          <a:solidFill>
                            <a:srgbClr val="5A6270"/>
                          </a:solidFill>
                          <a:latin typeface="Calibri"/>
                        </a:rPr>
                        <a:t>AWS Mumbai</a:t>
                      </a:r>
                    </a:p>
                  </a:txBody>
                  <a:tcPr>
                    <a:solidFill>
                      <a:srgbClr val="F2F7F5"/>
                    </a:solidFill>
                  </a:tcPr>
                </a:tc>
                <a:tc>
                  <a:txBody>
                    <a:bodyPr/>
                    <a:lstStyle/>
                    <a:p>
                      <a:r>
                        <a:rPr sz="1200" b="0">
                          <a:solidFill>
                            <a:srgbClr val="5A6270"/>
                          </a:solidFill>
                          <a:latin typeface="Calibri"/>
                        </a:rPr>
                        <a:t>KYC data stays in India (DPDP compliance)</a:t>
                      </a:r>
                    </a:p>
                  </a:txBody>
                  <a:tcPr>
                    <a:solidFill>
                      <a:srgbClr val="F2F7F5"/>
                    </a:solidFill>
                  </a:tcPr>
                </a:tc>
              </a:tr>
              <a:tr h="345454">
                <a:tc>
                  <a:txBody>
                    <a:bodyPr/>
                    <a:lstStyle/>
                    <a:p>
                      <a:r>
                        <a:rPr sz="1200" b="0">
                          <a:solidFill>
                            <a:srgbClr val="5A6270"/>
                          </a:solidFill>
                          <a:latin typeface="Calibri"/>
                        </a:rPr>
                        <a:t>Payments</a:t>
                      </a:r>
                    </a:p>
                  </a:txBody>
                  <a:tcPr>
                    <a:solidFill>
                      <a:srgbClr val="FFFFFF"/>
                    </a:solidFill>
                  </a:tcPr>
                </a:tc>
                <a:tc>
                  <a:txBody>
                    <a:bodyPr/>
                    <a:lstStyle/>
                    <a:p>
                      <a:r>
                        <a:rPr sz="1200" b="0">
                          <a:solidFill>
                            <a:srgbClr val="5A6270"/>
                          </a:solidFill>
                          <a:latin typeface="Calibri"/>
                        </a:rPr>
                        <a:t>Razorpay (UPI-first)</a:t>
                      </a:r>
                    </a:p>
                  </a:txBody>
                  <a:tcPr>
                    <a:solidFill>
                      <a:srgbClr val="FFFFFF"/>
                    </a:solidFill>
                  </a:tcPr>
                </a:tc>
                <a:tc>
                  <a:txBody>
                    <a:bodyPr/>
                    <a:lstStyle/>
                    <a:p>
                      <a:r>
                        <a:rPr sz="1200" b="0">
                          <a:solidFill>
                            <a:srgbClr val="5A6270"/>
                          </a:solidFill>
                          <a:latin typeface="Calibri"/>
                        </a:rPr>
                        <a:t>UPI at 0% MDR by RBI mandate</a:t>
                      </a:r>
                    </a:p>
                  </a:txBody>
                  <a:tcPr>
                    <a:solidFill>
                      <a:srgbClr val="FFFFFF"/>
                    </a:solidFill>
                  </a:tcPr>
                </a:tc>
              </a:tr>
              <a:tr h="345454">
                <a:tc>
                  <a:txBody>
                    <a:bodyPr/>
                    <a:lstStyle/>
                    <a:p>
                      <a:r>
                        <a:rPr sz="1200" b="0">
                          <a:solidFill>
                            <a:srgbClr val="5A6270"/>
                          </a:solidFill>
                          <a:latin typeface="Calibri"/>
                        </a:rPr>
                        <a:t>Call masking</a:t>
                      </a:r>
                    </a:p>
                  </a:txBody>
                  <a:tcPr>
                    <a:solidFill>
                      <a:srgbClr val="F2F7F5"/>
                    </a:solidFill>
                  </a:tcPr>
                </a:tc>
                <a:tc>
                  <a:txBody>
                    <a:bodyPr/>
                    <a:lstStyle/>
                    <a:p>
                      <a:r>
                        <a:rPr sz="1200" b="0">
                          <a:solidFill>
                            <a:srgbClr val="5A6270"/>
                          </a:solidFill>
                          <a:latin typeface="Calibri"/>
                        </a:rPr>
                        <a:t>Exotel</a:t>
                      </a:r>
                    </a:p>
                  </a:txBody>
                  <a:tcPr>
                    <a:solidFill>
                      <a:srgbClr val="F2F7F5"/>
                    </a:solidFill>
                  </a:tcPr>
                </a:tc>
                <a:tc>
                  <a:txBody>
                    <a:bodyPr/>
                    <a:lstStyle/>
                    <a:p>
                      <a:r>
                        <a:rPr sz="1200" b="0">
                          <a:solidFill>
                            <a:srgbClr val="5A6270"/>
                          </a:solidFill>
                          <a:latin typeface="Calibri"/>
                        </a:rPr>
                        <a:t>Virtual numbers keep owner phones private</a:t>
                      </a:r>
                    </a:p>
                  </a:txBody>
                  <a:tcPr>
                    <a:solidFill>
                      <a:srgbClr val="F2F7F5"/>
                    </a:solidFill>
                  </a:tcPr>
                </a:tc>
              </a:tr>
              <a:tr h="345454">
                <a:tc>
                  <a:txBody>
                    <a:bodyPr/>
                    <a:lstStyle/>
                    <a:p>
                      <a:r>
                        <a:rPr sz="1200" b="0">
                          <a:solidFill>
                            <a:srgbClr val="5A6270"/>
                          </a:solidFill>
                          <a:latin typeface="Calibri"/>
                        </a:rPr>
                        <a:t>KYC APIs</a:t>
                      </a:r>
                    </a:p>
                  </a:txBody>
                  <a:tcPr>
                    <a:solidFill>
                      <a:srgbClr val="FFFFFF"/>
                    </a:solidFill>
                  </a:tcPr>
                </a:tc>
                <a:tc>
                  <a:txBody>
                    <a:bodyPr/>
                    <a:lstStyle/>
                    <a:p>
                      <a:r>
                        <a:rPr sz="1200" b="0">
                          <a:solidFill>
                            <a:srgbClr val="5A6270"/>
                          </a:solidFill>
                          <a:latin typeface="Calibri"/>
                        </a:rPr>
                        <a:t>Surepass/IDfy class vendors</a:t>
                      </a:r>
                    </a:p>
                  </a:txBody>
                  <a:tcPr>
                    <a:solidFill>
                      <a:srgbClr val="FFFFFF"/>
                    </a:solidFill>
                  </a:tcPr>
                </a:tc>
                <a:tc>
                  <a:txBody>
                    <a:bodyPr/>
                    <a:lstStyle/>
                    <a:p>
                      <a:r>
                        <a:rPr sz="1200" b="0">
                          <a:solidFill>
                            <a:srgbClr val="5A6270"/>
                          </a:solidFill>
                          <a:latin typeface="Calibri"/>
                        </a:rPr>
                        <a:t>PAN ≈₹1–3/check; Aadhaar via offline XML/DigiLocker</a:t>
                      </a:r>
                    </a:p>
                  </a:txBody>
                  <a:tcPr>
                    <a:solidFill>
                      <a:srgbClr val="FFFFFF"/>
                    </a:solidFill>
                  </a:tcPr>
                </a:tc>
              </a:tr>
              <a:tr h="345460">
                <a:tc>
                  <a:txBody>
                    <a:bodyPr/>
                    <a:lstStyle/>
                    <a:p>
                      <a:r>
                        <a:rPr sz="1200" b="0">
                          <a:solidFill>
                            <a:srgbClr val="5A6270"/>
                          </a:solidFill>
                          <a:latin typeface="Calibri"/>
                        </a:rPr>
                        <a:t>Agreements</a:t>
                      </a:r>
                    </a:p>
                  </a:txBody>
                  <a:tcPr>
                    <a:solidFill>
                      <a:srgbClr val="F2F7F5"/>
                    </a:solidFill>
                  </a:tcPr>
                </a:tc>
                <a:tc>
                  <a:txBody>
                    <a:bodyPr/>
                    <a:lstStyle/>
                    <a:p>
                      <a:r>
                        <a:rPr sz="1200" b="0">
                          <a:solidFill>
                            <a:srgbClr val="5A6270"/>
                          </a:solidFill>
                          <a:latin typeface="Calibri"/>
                        </a:rPr>
                        <a:t>Leegality/Digio</a:t>
                      </a:r>
                    </a:p>
                  </a:txBody>
                  <a:tcPr>
                    <a:solidFill>
                      <a:srgbClr val="F2F7F5"/>
                    </a:solidFill>
                  </a:tcPr>
                </a:tc>
                <a:tc>
                  <a:txBody>
                    <a:bodyPr/>
                    <a:lstStyle/>
                    <a:p>
                      <a:r>
                        <a:rPr sz="1200" b="0">
                          <a:solidFill>
                            <a:srgbClr val="5A6270"/>
                          </a:solidFill>
                          <a:latin typeface="Calibri"/>
                        </a:rPr>
                        <a:t>Aadhaar eSign ₹10–40/signature + state-wise e-stamping</a:t>
                      </a:r>
                    </a:p>
                  </a:txBody>
                  <a:tcPr>
                    <a:solidFill>
                      <a:srgbClr val="F2F7F5"/>
                    </a:solidFill>
                  </a:tcPr>
                </a:tc>
              </a:tr>
            </a:tbl>
          </a:graphicData>
        </a:graphic>
      </p:graphicFrame>
      <p:sp>
        <p:nvSpPr>
          <p:cNvPr id="5" name="TextBox 4"/>
          <p:cNvSpPr txBox="1"/>
          <p:nvPr/>
        </p:nvSpPr>
        <p:spPr>
          <a:xfrm>
            <a:off x="640080" y="6100000"/>
            <a:ext cx="10911840" cy="600000"/>
          </a:xfrm>
          <a:prstGeom prst="rect">
            <a:avLst/>
          </a:prstGeom>
          <a:noFill/>
        </p:spPr>
        <p:txBody>
          <a:bodyPr wrap="square" anchor="t">
            <a:spAutoFit/>
          </a:bodyPr>
          <a:lstStyle/>
          <a:p>
            <a:pPr algn="l"/>
            <a:r>
              <a:rPr sz="1200" b="0">
                <a:solidFill>
                  <a:srgbClr val="5A6270"/>
                </a:solidFill>
                <a:latin typeface="Calibri"/>
              </a:rPr>
              <a:t>Cost traps avoided: Typesense keeps ~80% of Algolia's power at ~20% of the cost; Google Maps stays a free-tier fallback, not the primary, ahead of its post-2027 pricing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TRUST PIPELINE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Verification, the legal way.</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01 · IDENTITY</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Aadhaar offline XML / DigiLocker</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Identity proof through the legal offline route — no direct Aadhaar eKYC call.</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02 · PAN CHECK</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PAN verification API</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₹1–3 per check via a licensed KYC API partner.</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03 · OWNERSHIP</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Ownership-proof review</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Property tax receipt, electricity bill or sale deed — manual review.</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04 · BADGE</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Badge issued</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Verified Owner / Verified Tenant mark goes live on the profile and every listing.</a:t>
            </a:r>
          </a:p>
        </p:txBody>
      </p:sp>
      <p:sp>
        <p:nvSpPr>
          <p:cNvPr id="23" name="Rounded Rectangle 22"/>
          <p:cNvSpPr/>
          <p:nvPr/>
        </p:nvSpPr>
        <p:spPr>
          <a:xfrm>
            <a:off x="640080" y="4892040"/>
            <a:ext cx="10911840" cy="1280160"/>
          </a:xfrm>
          <a:prstGeom prst="roundRect">
            <a:avLst>
              <a:gd name="adj" fmla="val 1500"/>
            </a:avLst>
          </a:prstGeom>
          <a:solidFill>
            <a:srgbClr val="FFFFFF"/>
          </a:solidFill>
          <a:ln w="19050">
            <a:solidFill>
              <a:srgbClr val="E8A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938840"/>
            <a:ext cx="10454640" cy="1188720"/>
          </a:xfrm>
          <a:prstGeom prst="rect">
            <a:avLst/>
          </a:prstGeom>
          <a:noFill/>
        </p:spPr>
        <p:txBody>
          <a:bodyPr wrap="square" anchor="ctr">
            <a:spAutoFit/>
          </a:bodyPr>
          <a:lstStyle/>
          <a:p>
            <a:pPr algn="l"/>
            <a:r>
              <a:rPr sz="1300" b="0">
                <a:solidFill>
                  <a:srgbClr val="141821"/>
                </a:solidFill>
                <a:latin typeface="Calibri"/>
              </a:rPr>
              <a:t>The one legal fact that must not be gotten wrong on stage: private companies cannot call Aadhaar eKYC APIs directly (Supreme Court, Puttaswamy 2018). PropWeb verifies identity only through the legal routes — Aadhaar offline XML, DigiLocker, or a licensed KYC partner.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ROADMAP</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Four phases, one city first.</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PHASE 0 · weeks 0–4</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Setup</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Team hiring starts, tooling and accounts provisioned, design system finalized.</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PHASE 1 · months 1–4</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MVP, one city</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Bengaluru launch: search, listings, trust badges, pay-to-connect live.</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PHASE 2 · months 4–9</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Depth</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AI Match Score, digital rent agreements, fraud/broker detection.</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PHASE 3 · months 9–15</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Services + multi-city</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Affiliate services marketplace launches; expansion beyond Bengaluru.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TEAM</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Small team, sequenced hiring.</a:t>
            </a:r>
          </a:p>
        </p:txBody>
      </p:sp>
      <p:sp>
        <p:nvSpPr>
          <p:cNvPr id="4" name="Rounded Rectangle 3"/>
          <p:cNvSpPr/>
          <p:nvPr/>
        </p:nvSpPr>
        <p:spPr>
          <a:xfrm>
            <a:off x="64008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3027680" cy="320040"/>
          </a:xfrm>
          <a:prstGeom prst="rect">
            <a:avLst/>
          </a:prstGeom>
          <a:noFill/>
        </p:spPr>
        <p:txBody>
          <a:bodyPr wrap="square" anchor="ctr">
            <a:spAutoFit/>
          </a:bodyPr>
          <a:lstStyle/>
          <a:p>
            <a:pPr algn="l"/>
            <a:r>
              <a:rPr sz="1200" b="1" spc="200">
                <a:solidFill>
                  <a:srgbClr val="0E6E5C"/>
                </a:solidFill>
                <a:latin typeface="Calibri"/>
              </a:rPr>
              <a:t>MONTHS 1–3</a:t>
            </a:r>
          </a:p>
        </p:txBody>
      </p:sp>
      <p:sp>
        <p:nvSpPr>
          <p:cNvPr id="6" name="TextBox 5"/>
          <p:cNvSpPr txBox="1"/>
          <p:nvPr/>
        </p:nvSpPr>
        <p:spPr>
          <a:xfrm>
            <a:off x="868680" y="2743200"/>
            <a:ext cx="3027680" cy="548640"/>
          </a:xfrm>
          <a:prstGeom prst="rect">
            <a:avLst/>
          </a:prstGeom>
          <a:noFill/>
        </p:spPr>
        <p:txBody>
          <a:bodyPr wrap="square" anchor="t">
            <a:spAutoFit/>
          </a:bodyPr>
          <a:lstStyle/>
          <a:p>
            <a:pPr algn="l"/>
            <a:r>
              <a:rPr sz="1500" b="1">
                <a:solidFill>
                  <a:srgbClr val="141821"/>
                </a:solidFill>
                <a:latin typeface="Calibri"/>
              </a:rPr>
              <a:t>₹2.75L / month</a:t>
            </a:r>
          </a:p>
        </p:txBody>
      </p:sp>
      <p:sp>
        <p:nvSpPr>
          <p:cNvPr id="7" name="TextBox 6"/>
          <p:cNvSpPr txBox="1"/>
          <p:nvPr/>
        </p:nvSpPr>
        <p:spPr>
          <a:xfrm>
            <a:off x="868680" y="3383280"/>
            <a:ext cx="3027680" cy="1318896"/>
          </a:xfrm>
          <a:prstGeom prst="rect">
            <a:avLst/>
          </a:prstGeom>
          <a:noFill/>
        </p:spPr>
        <p:txBody>
          <a:bodyPr wrap="square" anchor="t">
            <a:spAutoFit/>
          </a:bodyPr>
          <a:lstStyle/>
          <a:p>
            <a:pPr algn="l"/>
            <a:r>
              <a:rPr sz="1200" b="0">
                <a:solidFill>
                  <a:srgbClr val="5A6270"/>
                </a:solidFill>
                <a:latin typeface="Calibri"/>
              </a:rPr>
              <a:t>Founding full-stack engineer (₹2L/mo) + contract designer (₹75k/mo).</a:t>
            </a:r>
          </a:p>
        </p:txBody>
      </p:sp>
      <p:sp>
        <p:nvSpPr>
          <p:cNvPr id="8" name="TextBox 7"/>
          <p:cNvSpPr txBox="1"/>
          <p:nvPr/>
        </p:nvSpPr>
        <p:spPr>
          <a:xfrm>
            <a:off x="412496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435356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82160" y="2331720"/>
            <a:ext cx="3027680" cy="320040"/>
          </a:xfrm>
          <a:prstGeom prst="rect">
            <a:avLst/>
          </a:prstGeom>
          <a:noFill/>
        </p:spPr>
        <p:txBody>
          <a:bodyPr wrap="square" anchor="ctr">
            <a:spAutoFit/>
          </a:bodyPr>
          <a:lstStyle/>
          <a:p>
            <a:pPr algn="l"/>
            <a:r>
              <a:rPr sz="1200" b="1" spc="200">
                <a:solidFill>
                  <a:srgbClr val="0E6E5C"/>
                </a:solidFill>
                <a:latin typeface="Calibri"/>
              </a:rPr>
              <a:t>MONTHS 4–6</a:t>
            </a:r>
          </a:p>
        </p:txBody>
      </p:sp>
      <p:sp>
        <p:nvSpPr>
          <p:cNvPr id="11" name="TextBox 10"/>
          <p:cNvSpPr txBox="1"/>
          <p:nvPr/>
        </p:nvSpPr>
        <p:spPr>
          <a:xfrm>
            <a:off x="4582160" y="2743200"/>
            <a:ext cx="3027680" cy="548640"/>
          </a:xfrm>
          <a:prstGeom prst="rect">
            <a:avLst/>
          </a:prstGeom>
          <a:noFill/>
        </p:spPr>
        <p:txBody>
          <a:bodyPr wrap="square" anchor="t">
            <a:spAutoFit/>
          </a:bodyPr>
          <a:lstStyle/>
          <a:p>
            <a:pPr algn="l"/>
            <a:r>
              <a:rPr sz="1500" b="1">
                <a:solidFill>
                  <a:srgbClr val="141821"/>
                </a:solidFill>
                <a:latin typeface="Calibri"/>
              </a:rPr>
              <a:t>₹5.35L / month</a:t>
            </a:r>
          </a:p>
        </p:txBody>
      </p:sp>
      <p:sp>
        <p:nvSpPr>
          <p:cNvPr id="12" name="TextBox 11"/>
          <p:cNvSpPr txBox="1"/>
          <p:nvPr/>
        </p:nvSpPr>
        <p:spPr>
          <a:xfrm>
            <a:off x="4582160" y="3383280"/>
            <a:ext cx="3027680" cy="1318896"/>
          </a:xfrm>
          <a:prstGeom prst="rect">
            <a:avLst/>
          </a:prstGeom>
          <a:noFill/>
        </p:spPr>
        <p:txBody>
          <a:bodyPr wrap="square" anchor="t">
            <a:spAutoFit/>
          </a:bodyPr>
          <a:lstStyle/>
          <a:p>
            <a:pPr algn="l"/>
            <a:r>
              <a:rPr sz="1200" b="0">
                <a:solidFill>
                  <a:srgbClr val="5A6270"/>
                </a:solidFill>
                <a:latin typeface="Calibri"/>
              </a:rPr>
              <a:t>+ Backend engineer (₹1.6L/mo) + frontend engineer (₹1L/mo).</a:t>
            </a:r>
          </a:p>
        </p:txBody>
      </p:sp>
      <p:sp>
        <p:nvSpPr>
          <p:cNvPr id="13" name="TextBox 12"/>
          <p:cNvSpPr txBox="1"/>
          <p:nvPr/>
        </p:nvSpPr>
        <p:spPr>
          <a:xfrm>
            <a:off x="783844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806704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5640" y="2331720"/>
            <a:ext cx="3027680" cy="320040"/>
          </a:xfrm>
          <a:prstGeom prst="rect">
            <a:avLst/>
          </a:prstGeom>
          <a:noFill/>
        </p:spPr>
        <p:txBody>
          <a:bodyPr wrap="square" anchor="ctr">
            <a:spAutoFit/>
          </a:bodyPr>
          <a:lstStyle/>
          <a:p>
            <a:pPr algn="l"/>
            <a:r>
              <a:rPr sz="1200" b="1" spc="200">
                <a:solidFill>
                  <a:srgbClr val="0E6E5C"/>
                </a:solidFill>
                <a:latin typeface="Calibri"/>
              </a:rPr>
              <a:t>MONTHS 7–12</a:t>
            </a:r>
          </a:p>
        </p:txBody>
      </p:sp>
      <p:sp>
        <p:nvSpPr>
          <p:cNvPr id="16" name="TextBox 15"/>
          <p:cNvSpPr txBox="1"/>
          <p:nvPr/>
        </p:nvSpPr>
        <p:spPr>
          <a:xfrm>
            <a:off x="8295640" y="2743200"/>
            <a:ext cx="3027680" cy="548640"/>
          </a:xfrm>
          <a:prstGeom prst="rect">
            <a:avLst/>
          </a:prstGeom>
          <a:noFill/>
        </p:spPr>
        <p:txBody>
          <a:bodyPr wrap="square" anchor="t">
            <a:spAutoFit/>
          </a:bodyPr>
          <a:lstStyle/>
          <a:p>
            <a:pPr algn="l"/>
            <a:r>
              <a:rPr sz="1500" b="1">
                <a:solidFill>
                  <a:srgbClr val="141821"/>
                </a:solidFill>
                <a:latin typeface="Calibri"/>
              </a:rPr>
              <a:t>₹6.65L / month</a:t>
            </a:r>
          </a:p>
        </p:txBody>
      </p:sp>
      <p:sp>
        <p:nvSpPr>
          <p:cNvPr id="17" name="TextBox 16"/>
          <p:cNvSpPr txBox="1"/>
          <p:nvPr/>
        </p:nvSpPr>
        <p:spPr>
          <a:xfrm>
            <a:off x="8295640" y="3383280"/>
            <a:ext cx="3027680" cy="1318896"/>
          </a:xfrm>
          <a:prstGeom prst="rect">
            <a:avLst/>
          </a:prstGeom>
          <a:noFill/>
        </p:spPr>
        <p:txBody>
          <a:bodyPr wrap="square" anchor="t">
            <a:spAutoFit/>
          </a:bodyPr>
          <a:lstStyle/>
          <a:p>
            <a:pPr algn="l"/>
            <a:r>
              <a:rPr sz="1200" b="0">
                <a:solidFill>
                  <a:srgbClr val="5A6270"/>
                </a:solidFill>
                <a:latin typeface="Calibri"/>
              </a:rPr>
              <a:t>+ QA/ops (₹70k/mo) + fractional DevOps (₹60k/mo).</a:t>
            </a:r>
          </a:p>
        </p:txBody>
      </p:sp>
      <p:sp>
        <p:nvSpPr>
          <p:cNvPr id="18" name="TextBox 17"/>
          <p:cNvSpPr txBox="1"/>
          <p:nvPr/>
        </p:nvSpPr>
        <p:spPr>
          <a:xfrm>
            <a:off x="640080" y="5400000"/>
            <a:ext cx="10911840" cy="500000"/>
          </a:xfrm>
          <a:prstGeom prst="rect">
            <a:avLst/>
          </a:prstGeom>
          <a:noFill/>
        </p:spPr>
        <p:txBody>
          <a:bodyPr wrap="square" anchor="ctr">
            <a:spAutoFit/>
          </a:bodyPr>
          <a:lstStyle/>
          <a:p>
            <a:pPr algn="l"/>
            <a:r>
              <a:rPr sz="1600" b="1">
                <a:solidFill>
                  <a:srgbClr val="0E6E5C"/>
                </a:solidFill>
                <a:latin typeface="Calibri"/>
              </a:rPr>
              <a:t>12-month engineering payroll: ₹55–65 lakh.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BUDGET</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Three scenarios, months 0–12.</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4200000"/>
                <a:gridCol w="2237280"/>
                <a:gridCol w="2237280"/>
                <a:gridCol w="2237280"/>
              </a:tblGrid>
              <a:tr h="475000">
                <a:tc>
                  <a:txBody>
                    <a:bodyPr/>
                    <a:lstStyle/>
                    <a:p>
                      <a:r>
                        <a:rPr sz="1250" b="1">
                          <a:solidFill>
                            <a:srgbClr val="141821"/>
                          </a:solidFill>
                          <a:latin typeface="Calibri"/>
                        </a:rPr>
                        <a:t>Cost line</a:t>
                      </a:r>
                    </a:p>
                  </a:txBody>
                  <a:tcPr>
                    <a:solidFill>
                      <a:srgbClr val="F2F7F5"/>
                    </a:solidFill>
                  </a:tcPr>
                </a:tc>
                <a:tc>
                  <a:txBody>
                    <a:bodyPr/>
                    <a:lstStyle/>
                    <a:p>
                      <a:r>
                        <a:rPr sz="1250" b="1">
                          <a:solidFill>
                            <a:srgbClr val="141821"/>
                          </a:solidFill>
                          <a:latin typeface="Calibri"/>
                        </a:rPr>
                        <a:t>Lean</a:t>
                      </a:r>
                    </a:p>
                  </a:txBody>
                  <a:tcPr>
                    <a:solidFill>
                      <a:srgbClr val="F2F7F5"/>
                    </a:solidFill>
                  </a:tcPr>
                </a:tc>
                <a:tc>
                  <a:txBody>
                    <a:bodyPr/>
                    <a:lstStyle/>
                    <a:p>
                      <a:r>
                        <a:rPr sz="1250" b="1">
                          <a:solidFill>
                            <a:srgbClr val="141821"/>
                          </a:solidFill>
                          <a:latin typeface="Calibri"/>
                        </a:rPr>
                        <a:t>Base</a:t>
                      </a:r>
                    </a:p>
                  </a:txBody>
                  <a:tcPr>
                    <a:solidFill>
                      <a:srgbClr val="F2F7F5"/>
                    </a:solidFill>
                  </a:tcPr>
                </a:tc>
                <a:tc>
                  <a:txBody>
                    <a:bodyPr/>
                    <a:lstStyle/>
                    <a:p>
                      <a:r>
                        <a:rPr sz="1250" b="1">
                          <a:solidFill>
                            <a:srgbClr val="141821"/>
                          </a:solidFill>
                          <a:latin typeface="Calibri"/>
                        </a:rPr>
                        <a:t>Comfortable</a:t>
                      </a:r>
                    </a:p>
                  </a:txBody>
                  <a:tcPr>
                    <a:solidFill>
                      <a:srgbClr val="F2F7F5"/>
                    </a:solidFill>
                  </a:tcPr>
                </a:tc>
              </a:tr>
              <a:tr h="475000">
                <a:tc>
                  <a:txBody>
                    <a:bodyPr/>
                    <a:lstStyle/>
                    <a:p>
                      <a:r>
                        <a:rPr sz="1200" b="0">
                          <a:solidFill>
                            <a:srgbClr val="5A6270"/>
                          </a:solidFill>
                          <a:latin typeface="Calibri"/>
                        </a:rPr>
                        <a:t>Engineering payroll</a:t>
                      </a:r>
                    </a:p>
                  </a:txBody>
                  <a:tcPr>
                    <a:solidFill>
                      <a:srgbClr val="FFFFFF"/>
                    </a:solidFill>
                  </a:tcPr>
                </a:tc>
                <a:tc>
                  <a:txBody>
                    <a:bodyPr/>
                    <a:lstStyle/>
                    <a:p>
                      <a:r>
                        <a:rPr sz="1200" b="0">
                          <a:solidFill>
                            <a:srgbClr val="5A6270"/>
                          </a:solidFill>
                          <a:latin typeface="Calibri"/>
                        </a:rPr>
                        <a:t>₹40L</a:t>
                      </a:r>
                    </a:p>
                  </a:txBody>
                  <a:tcPr>
                    <a:solidFill>
                      <a:srgbClr val="FFFFFF"/>
                    </a:solidFill>
                  </a:tcPr>
                </a:tc>
                <a:tc>
                  <a:txBody>
                    <a:bodyPr/>
                    <a:lstStyle/>
                    <a:p>
                      <a:r>
                        <a:rPr sz="1200" b="0">
                          <a:solidFill>
                            <a:srgbClr val="5A6270"/>
                          </a:solidFill>
                          <a:latin typeface="Calibri"/>
                        </a:rPr>
                        <a:t>₹60L</a:t>
                      </a:r>
                    </a:p>
                  </a:txBody>
                  <a:tcPr>
                    <a:solidFill>
                      <a:srgbClr val="FFFFFF"/>
                    </a:solidFill>
                  </a:tcPr>
                </a:tc>
                <a:tc>
                  <a:txBody>
                    <a:bodyPr/>
                    <a:lstStyle/>
                    <a:p>
                      <a:r>
                        <a:rPr sz="1200" b="0">
                          <a:solidFill>
                            <a:srgbClr val="5A6270"/>
                          </a:solidFill>
                          <a:latin typeface="Calibri"/>
                        </a:rPr>
                        <a:t>₹90L</a:t>
                      </a:r>
                    </a:p>
                  </a:txBody>
                  <a:tcPr>
                    <a:solidFill>
                      <a:srgbClr val="FFFFFF"/>
                    </a:solidFill>
                  </a:tcPr>
                </a:tc>
              </a:tr>
              <a:tr h="475000">
                <a:tc>
                  <a:txBody>
                    <a:bodyPr/>
                    <a:lstStyle/>
                    <a:p>
                      <a:r>
                        <a:rPr sz="1200" b="0">
                          <a:solidFill>
                            <a:srgbClr val="5A6270"/>
                          </a:solidFill>
                          <a:latin typeface="Calibri"/>
                        </a:rPr>
                        <a:t>CTO+CPO cash (reduced)</a:t>
                      </a:r>
                    </a:p>
                  </a:txBody>
                  <a:tcPr>
                    <a:solidFill>
                      <a:srgbClr val="F2F7F5"/>
                    </a:solidFill>
                  </a:tcPr>
                </a:tc>
                <a:tc>
                  <a:txBody>
                    <a:bodyPr/>
                    <a:lstStyle/>
                    <a:p>
                      <a:r>
                        <a:rPr sz="1200" b="0">
                          <a:solidFill>
                            <a:srgbClr val="5A6270"/>
                          </a:solidFill>
                          <a:latin typeface="Calibri"/>
                        </a:rPr>
                        <a:t>₹12L</a:t>
                      </a:r>
                    </a:p>
                  </a:txBody>
                  <a:tcPr>
                    <a:solidFill>
                      <a:srgbClr val="F2F7F5"/>
                    </a:solidFill>
                  </a:tcPr>
                </a:tc>
                <a:tc>
                  <a:txBody>
                    <a:bodyPr/>
                    <a:lstStyle/>
                    <a:p>
                      <a:r>
                        <a:rPr sz="1200" b="0">
                          <a:solidFill>
                            <a:srgbClr val="5A6270"/>
                          </a:solidFill>
                          <a:latin typeface="Calibri"/>
                        </a:rPr>
                        <a:t>₹24L</a:t>
                      </a:r>
                    </a:p>
                  </a:txBody>
                  <a:tcPr>
                    <a:solidFill>
                      <a:srgbClr val="F2F7F5"/>
                    </a:solidFill>
                  </a:tcPr>
                </a:tc>
                <a:tc>
                  <a:txBody>
                    <a:bodyPr/>
                    <a:lstStyle/>
                    <a:p>
                      <a:r>
                        <a:rPr sz="1200" b="0">
                          <a:solidFill>
                            <a:srgbClr val="5A6270"/>
                          </a:solidFill>
                          <a:latin typeface="Calibri"/>
                        </a:rPr>
                        <a:t>₹36L</a:t>
                      </a:r>
                    </a:p>
                  </a:txBody>
                  <a:tcPr>
                    <a:solidFill>
                      <a:srgbClr val="F2F7F5"/>
                    </a:solidFill>
                  </a:tcPr>
                </a:tc>
              </a:tr>
              <a:tr h="475000">
                <a:tc>
                  <a:txBody>
                    <a:bodyPr/>
                    <a:lstStyle/>
                    <a:p>
                      <a:r>
                        <a:rPr sz="1200" b="0">
                          <a:solidFill>
                            <a:srgbClr val="5A6270"/>
                          </a:solidFill>
                          <a:latin typeface="Calibri"/>
                        </a:rPr>
                        <a:t>Cloud &amp; infrastructure</a:t>
                      </a:r>
                    </a:p>
                  </a:txBody>
                  <a:tcPr>
                    <a:solidFill>
                      <a:srgbClr val="FFFFFF"/>
                    </a:solidFill>
                  </a:tcPr>
                </a:tc>
                <a:tc>
                  <a:txBody>
                    <a:bodyPr/>
                    <a:lstStyle/>
                    <a:p>
                      <a:r>
                        <a:rPr sz="1200" b="0">
                          <a:solidFill>
                            <a:srgbClr val="5A6270"/>
                          </a:solidFill>
                          <a:latin typeface="Calibri"/>
                        </a:rPr>
                        <a:t>₹3L</a:t>
                      </a:r>
                    </a:p>
                  </a:txBody>
                  <a:tcPr>
                    <a:solidFill>
                      <a:srgbClr val="FFFFFF"/>
                    </a:solidFill>
                  </a:tcPr>
                </a:tc>
                <a:tc>
                  <a:txBody>
                    <a:bodyPr/>
                    <a:lstStyle/>
                    <a:p>
                      <a:r>
                        <a:rPr sz="1200" b="0">
                          <a:solidFill>
                            <a:srgbClr val="5A6270"/>
                          </a:solidFill>
                          <a:latin typeface="Calibri"/>
                        </a:rPr>
                        <a:t>₹6L</a:t>
                      </a:r>
                    </a:p>
                  </a:txBody>
                  <a:tcPr>
                    <a:solidFill>
                      <a:srgbClr val="FFFFFF"/>
                    </a:solidFill>
                  </a:tcPr>
                </a:tc>
                <a:tc>
                  <a:txBody>
                    <a:bodyPr/>
                    <a:lstStyle/>
                    <a:p>
                      <a:r>
                        <a:rPr sz="1200" b="0">
                          <a:solidFill>
                            <a:srgbClr val="5A6270"/>
                          </a:solidFill>
                          <a:latin typeface="Calibri"/>
                        </a:rPr>
                        <a:t>₹12L</a:t>
                      </a:r>
                    </a:p>
                  </a:txBody>
                  <a:tcPr>
                    <a:solidFill>
                      <a:srgbClr val="FFFFFF"/>
                    </a:solidFill>
                  </a:tcPr>
                </a:tc>
              </a:tr>
              <a:tr h="475000">
                <a:tc>
                  <a:txBody>
                    <a:bodyPr/>
                    <a:lstStyle/>
                    <a:p>
                      <a:r>
                        <a:rPr sz="1200" b="0">
                          <a:solidFill>
                            <a:srgbClr val="5A6270"/>
                          </a:solidFill>
                          <a:latin typeface="Calibri"/>
                        </a:rPr>
                        <a:t>Third-party APIs</a:t>
                      </a:r>
                    </a:p>
                  </a:txBody>
                  <a:tcPr>
                    <a:solidFill>
                      <a:srgbClr val="F2F7F5"/>
                    </a:solidFill>
                  </a:tcPr>
                </a:tc>
                <a:tc>
                  <a:txBody>
                    <a:bodyPr/>
                    <a:lstStyle/>
                    <a:p>
                      <a:r>
                        <a:rPr sz="1200" b="0">
                          <a:solidFill>
                            <a:srgbClr val="5A6270"/>
                          </a:solidFill>
                          <a:latin typeface="Calibri"/>
                        </a:rPr>
                        <a:t>₹3L</a:t>
                      </a:r>
                    </a:p>
                  </a:txBody>
                  <a:tcPr>
                    <a:solidFill>
                      <a:srgbClr val="F2F7F5"/>
                    </a:solidFill>
                  </a:tcPr>
                </a:tc>
                <a:tc>
                  <a:txBody>
                    <a:bodyPr/>
                    <a:lstStyle/>
                    <a:p>
                      <a:r>
                        <a:rPr sz="1200" b="0">
                          <a:solidFill>
                            <a:srgbClr val="5A6270"/>
                          </a:solidFill>
                          <a:latin typeface="Calibri"/>
                        </a:rPr>
                        <a:t>₹6L</a:t>
                      </a:r>
                    </a:p>
                  </a:txBody>
                  <a:tcPr>
                    <a:solidFill>
                      <a:srgbClr val="F2F7F5"/>
                    </a:solidFill>
                  </a:tcPr>
                </a:tc>
                <a:tc>
                  <a:txBody>
                    <a:bodyPr/>
                    <a:lstStyle/>
                    <a:p>
                      <a:r>
                        <a:rPr sz="1200" b="0">
                          <a:solidFill>
                            <a:srgbClr val="5A6270"/>
                          </a:solidFill>
                          <a:latin typeface="Calibri"/>
                        </a:rPr>
                        <a:t>₹12L</a:t>
                      </a:r>
                    </a:p>
                  </a:txBody>
                  <a:tcPr>
                    <a:solidFill>
                      <a:srgbClr val="F2F7F5"/>
                    </a:solidFill>
                  </a:tcPr>
                </a:tc>
              </a:tr>
              <a:tr h="475000">
                <a:tc>
                  <a:txBody>
                    <a:bodyPr/>
                    <a:lstStyle/>
                    <a:p>
                      <a:r>
                        <a:rPr sz="1200" b="0">
                          <a:solidFill>
                            <a:srgbClr val="5A6270"/>
                          </a:solidFill>
                          <a:latin typeface="Calibri"/>
                        </a:rPr>
                        <a:t>Tools &amp; licenses</a:t>
                      </a:r>
                    </a:p>
                  </a:txBody>
                  <a:tcPr>
                    <a:solidFill>
                      <a:srgbClr val="FFFFFF"/>
                    </a:solidFill>
                  </a:tcPr>
                </a:tc>
                <a:tc>
                  <a:txBody>
                    <a:bodyPr/>
                    <a:lstStyle/>
                    <a:p>
                      <a:r>
                        <a:rPr sz="1200" b="0">
                          <a:solidFill>
                            <a:srgbClr val="5A6270"/>
                          </a:solidFill>
                          <a:latin typeface="Calibri"/>
                        </a:rPr>
                        <a:t>₹1.5L</a:t>
                      </a:r>
                    </a:p>
                  </a:txBody>
                  <a:tcPr>
                    <a:solidFill>
                      <a:srgbClr val="FFFFFF"/>
                    </a:solidFill>
                  </a:tcPr>
                </a:tc>
                <a:tc>
                  <a:txBody>
                    <a:bodyPr/>
                    <a:lstStyle/>
                    <a:p>
                      <a:r>
                        <a:rPr sz="1200" b="0">
                          <a:solidFill>
                            <a:srgbClr val="5A6270"/>
                          </a:solidFill>
                          <a:latin typeface="Calibri"/>
                        </a:rPr>
                        <a:t>₹3L</a:t>
                      </a:r>
                    </a:p>
                  </a:txBody>
                  <a:tcPr>
                    <a:solidFill>
                      <a:srgbClr val="FFFFFF"/>
                    </a:solidFill>
                  </a:tcPr>
                </a:tc>
                <a:tc>
                  <a:txBody>
                    <a:bodyPr/>
                    <a:lstStyle/>
                    <a:p>
                      <a:r>
                        <a:rPr sz="1200" b="0">
                          <a:solidFill>
                            <a:srgbClr val="5A6270"/>
                          </a:solidFill>
                          <a:latin typeface="Calibri"/>
                        </a:rPr>
                        <a:t>₹5L</a:t>
                      </a:r>
                    </a:p>
                  </a:txBody>
                  <a:tcPr>
                    <a:solidFill>
                      <a:srgbClr val="FFFFFF"/>
                    </a:solidFill>
                  </a:tcPr>
                </a:tc>
              </a:tr>
              <a:tr h="475000">
                <a:tc>
                  <a:txBody>
                    <a:bodyPr/>
                    <a:lstStyle/>
                    <a:p>
                      <a:r>
                        <a:rPr sz="1200" b="0">
                          <a:solidFill>
                            <a:srgbClr val="5A6270"/>
                          </a:solidFill>
                          <a:latin typeface="Calibri"/>
                        </a:rPr>
                        <a:t>Contingency (~15%)</a:t>
                      </a:r>
                    </a:p>
                  </a:txBody>
                  <a:tcPr>
                    <a:solidFill>
                      <a:srgbClr val="F2F7F5"/>
                    </a:solidFill>
                  </a:tcPr>
                </a:tc>
                <a:tc>
                  <a:txBody>
                    <a:bodyPr/>
                    <a:lstStyle/>
                    <a:p>
                      <a:r>
                        <a:rPr sz="1200" b="0">
                          <a:solidFill>
                            <a:srgbClr val="5A6270"/>
                          </a:solidFill>
                          <a:latin typeface="Calibri"/>
                        </a:rPr>
                        <a:t>₹9L</a:t>
                      </a:r>
                    </a:p>
                  </a:txBody>
                  <a:tcPr>
                    <a:solidFill>
                      <a:srgbClr val="F2F7F5"/>
                    </a:solidFill>
                  </a:tcPr>
                </a:tc>
                <a:tc>
                  <a:txBody>
                    <a:bodyPr/>
                    <a:lstStyle/>
                    <a:p>
                      <a:r>
                        <a:rPr sz="1200" b="0">
                          <a:solidFill>
                            <a:srgbClr val="5A6270"/>
                          </a:solidFill>
                          <a:latin typeface="Calibri"/>
                        </a:rPr>
                        <a:t>₹15L</a:t>
                      </a:r>
                    </a:p>
                  </a:txBody>
                  <a:tcPr>
                    <a:solidFill>
                      <a:srgbClr val="F2F7F5"/>
                    </a:solidFill>
                  </a:tcPr>
                </a:tc>
                <a:tc>
                  <a:txBody>
                    <a:bodyPr/>
                    <a:lstStyle/>
                    <a:p>
                      <a:r>
                        <a:rPr sz="1200" b="0">
                          <a:solidFill>
                            <a:srgbClr val="5A6270"/>
                          </a:solidFill>
                          <a:latin typeface="Calibri"/>
                        </a:rPr>
                        <a:t>₹23L</a:t>
                      </a:r>
                    </a:p>
                  </a:txBody>
                  <a:tcPr>
                    <a:solidFill>
                      <a:srgbClr val="F2F7F5"/>
                    </a:solidFill>
                  </a:tcPr>
                </a:tc>
              </a:tr>
              <a:tr h="475000">
                <a:tc>
                  <a:txBody>
                    <a:bodyPr/>
                    <a:lstStyle/>
                    <a:p>
                      <a:r>
                        <a:rPr sz="1200" b="0">
                          <a:solidFill>
                            <a:srgbClr val="5A6270"/>
                          </a:solidFill>
                          <a:latin typeface="Calibri"/>
                        </a:rPr>
                        <a:t>TOTAL (0–12 months)</a:t>
                      </a:r>
                    </a:p>
                  </a:txBody>
                  <a:tcPr>
                    <a:solidFill>
                      <a:srgbClr val="FFFFFF"/>
                    </a:solidFill>
                  </a:tcPr>
                </a:tc>
                <a:tc>
                  <a:txBody>
                    <a:bodyPr/>
                    <a:lstStyle/>
                    <a:p>
                      <a:r>
                        <a:rPr sz="1200" b="0">
                          <a:solidFill>
                            <a:srgbClr val="5A6270"/>
                          </a:solidFill>
                          <a:latin typeface="Calibri"/>
                        </a:rPr>
                        <a:t>≈₹68L</a:t>
                      </a:r>
                    </a:p>
                  </a:txBody>
                  <a:tcPr>
                    <a:solidFill>
                      <a:srgbClr val="FFFFFF"/>
                    </a:solidFill>
                  </a:tcPr>
                </a:tc>
                <a:tc>
                  <a:txBody>
                    <a:bodyPr/>
                    <a:lstStyle/>
                    <a:p>
                      <a:r>
                        <a:rPr sz="1200" b="0">
                          <a:solidFill>
                            <a:srgbClr val="5A6270"/>
                          </a:solidFill>
                          <a:latin typeface="Calibri"/>
                        </a:rPr>
                        <a:t>≈₹1.14 Cr</a:t>
                      </a:r>
                    </a:p>
                  </a:txBody>
                  <a:tcPr>
                    <a:solidFill>
                      <a:srgbClr val="FFFFFF"/>
                    </a:solidFill>
                  </a:tcPr>
                </a:tc>
                <a:tc>
                  <a:txBody>
                    <a:bodyPr/>
                    <a:lstStyle/>
                    <a:p>
                      <a:r>
                        <a:rPr sz="1200" b="0">
                          <a:solidFill>
                            <a:srgbClr val="5A6270"/>
                          </a:solidFill>
                          <a:latin typeface="Calibri"/>
                        </a:rPr>
                        <a:t>≈₹1.78 Cr</a:t>
                      </a:r>
                    </a:p>
                  </a:txBody>
                  <a:tcPr>
                    <a:solidFill>
                      <a:srgbClr val="FFFFFF"/>
                    </a:solidFill>
                  </a:tcPr>
                </a:tc>
              </a:tr>
            </a:tbl>
          </a:graphicData>
        </a:graphic>
      </p:graphicFrame>
      <p:sp>
        <p:nvSpPr>
          <p:cNvPr id="5" name="TextBox 4"/>
          <p:cNvSpPr txBox="1"/>
          <p:nvPr/>
        </p:nvSpPr>
        <p:spPr>
          <a:xfrm>
            <a:off x="640080" y="6100000"/>
            <a:ext cx="10911840" cy="500000"/>
          </a:xfrm>
          <a:prstGeom prst="rect">
            <a:avLst/>
          </a:prstGeom>
          <a:noFill/>
        </p:spPr>
        <p:txBody>
          <a:bodyPr wrap="square" anchor="ctr">
            <a:spAutoFit/>
          </a:bodyPr>
          <a:lstStyle/>
          <a:p>
            <a:pPr algn="l"/>
            <a:r>
              <a:rPr sz="1300" b="0">
                <a:solidFill>
                  <a:srgbClr val="5A6270"/>
                </a:solidFill>
                <a:latin typeface="Calibri"/>
              </a:rPr>
              <a:t>Team of 5–6 + fractional roles; one-city MVP achievable in 4 months.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ASK</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What we need from you, next 90 days.</a:t>
            </a:r>
          </a:p>
        </p:txBody>
      </p:sp>
      <p:sp>
        <p:nvSpPr>
          <p:cNvPr id="4" name="TextBox 3"/>
          <p:cNvSpPr txBox="1"/>
          <p:nvPr/>
        </p:nvSpPr>
        <p:spPr>
          <a:xfrm>
            <a:off x="640080" y="2103120"/>
            <a:ext cx="10911840" cy="640080"/>
          </a:xfrm>
          <a:prstGeom prst="rect">
            <a:avLst/>
          </a:prstGeom>
          <a:noFill/>
        </p:spPr>
        <p:txBody>
          <a:bodyPr wrap="square" anchor="t">
            <a:spAutoFit/>
          </a:bodyPr>
          <a:lstStyle/>
          <a:p>
            <a:pPr algn="l"/>
            <a:r>
              <a:rPr sz="1500" b="1">
                <a:solidFill>
                  <a:srgbClr val="141821"/>
                </a:solidFill>
                <a:latin typeface="Calibri"/>
              </a:rPr>
              <a:t>The decision: approve one budget scenario (Lean / Base / Comfortable) and a start date for the founding engineer hire.</a:t>
            </a:r>
          </a:p>
        </p:txBody>
      </p:sp>
      <p:sp>
        <p:nvSpPr>
          <p:cNvPr id="5" name="Rounded Rectangle 4"/>
          <p:cNvSpPr/>
          <p:nvPr/>
        </p:nvSpPr>
        <p:spPr>
          <a:xfrm>
            <a:off x="640080" y="2960000"/>
            <a:ext cx="10911840" cy="1600000"/>
          </a:xfrm>
          <a:prstGeom prst="roundRect">
            <a:avLst>
              <a:gd name="adj" fmla="val 3000"/>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050000"/>
            <a:ext cx="10454640" cy="365760"/>
          </a:xfrm>
          <a:prstGeom prst="rect">
            <a:avLst/>
          </a:prstGeom>
          <a:noFill/>
        </p:spPr>
        <p:txBody>
          <a:bodyPr wrap="square" anchor="ctr">
            <a:spAutoFit/>
          </a:bodyPr>
          <a:lstStyle/>
          <a:p>
            <a:pPr algn="l"/>
            <a:r>
              <a:rPr sz="1500" b="1">
                <a:solidFill>
                  <a:srgbClr val="0E6E5C"/>
                </a:solidFill>
                <a:latin typeface="Calibri"/>
              </a:rPr>
              <a:t>Next 90 days</a:t>
            </a:r>
          </a:p>
        </p:txBody>
      </p:sp>
      <p:sp>
        <p:nvSpPr>
          <p:cNvPr id="7" name="TextBox 6"/>
          <p:cNvSpPr txBox="1"/>
          <p:nvPr/>
        </p:nvSpPr>
        <p:spPr>
          <a:xfrm>
            <a:off x="868680" y="3450000"/>
            <a:ext cx="10454640" cy="1000000"/>
          </a:xfrm>
          <a:prstGeom prst="rect">
            <a:avLst/>
          </a:prstGeom>
          <a:noFill/>
        </p:spPr>
        <p:txBody>
          <a:bodyPr wrap="square" anchor="t">
            <a:spAutoFit/>
          </a:bodyPr>
          <a:lstStyle/>
          <a:p>
            <a:pPr algn="l"/>
            <a:r>
              <a:rPr sz="1300" b="0">
                <a:solidFill>
                  <a:srgbClr val="5A6270"/>
                </a:solidFill>
                <a:latin typeface="Calibri"/>
              </a:rPr>
              <a:t>Phase 0 setup (weeks 0–4) → founding engineer hired and Phase 1 MVP build under way, targeting the one-city Bengaluru launch inside 4 months.</a:t>
            </a:r>
          </a:p>
        </p:txBody>
      </p:sp>
      <p:sp>
        <p:nvSpPr>
          <p:cNvPr id="8" name="Rounded Rectangle 7"/>
          <p:cNvSpPr/>
          <p:nvPr/>
        </p:nvSpPr>
        <p:spPr>
          <a:xfrm>
            <a:off x="640080" y="4740000"/>
            <a:ext cx="10911840" cy="1750000"/>
          </a:xfrm>
          <a:prstGeom prst="roundRect">
            <a:avLst>
              <a:gd name="adj" fmla="val 3000"/>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830000"/>
            <a:ext cx="10454640" cy="365760"/>
          </a:xfrm>
          <a:prstGeom prst="rect">
            <a:avLst/>
          </a:prstGeom>
          <a:noFill/>
        </p:spPr>
        <p:txBody>
          <a:bodyPr wrap="square" anchor="ctr">
            <a:spAutoFit/>
          </a:bodyPr>
          <a:lstStyle/>
          <a:p>
            <a:pPr algn="l"/>
            <a:r>
              <a:rPr sz="1500" b="1">
                <a:solidFill>
                  <a:srgbClr val="0E6E5C"/>
                </a:solidFill>
                <a:latin typeface="Calibri"/>
              </a:rPr>
              <a:t>What success looks like at month 12</a:t>
            </a:r>
          </a:p>
        </p:txBody>
      </p:sp>
      <p:sp>
        <p:nvSpPr>
          <p:cNvPr id="10" name="TextBox 9"/>
          <p:cNvSpPr txBox="1"/>
          <p:nvPr/>
        </p:nvSpPr>
        <p:spPr>
          <a:xfrm>
            <a:off x="868680" y="5230000"/>
            <a:ext cx="10454640" cy="1200000"/>
          </a:xfrm>
          <a:prstGeom prst="rect">
            <a:avLst/>
          </a:prstGeom>
          <a:noFill/>
        </p:spPr>
        <p:txBody>
          <a:bodyPr wrap="square" anchor="t">
            <a:spAutoFit/>
          </a:bodyPr>
          <a:lstStyle/>
          <a:p>
            <a:pPr algn="l"/>
            <a:r>
              <a:rPr sz="1300" b="0">
                <a:solidFill>
                  <a:srgbClr val="5A6270"/>
                </a:solidFill>
                <a:latin typeface="Calibri"/>
              </a:rPr>
              <a:t>200+ verified owner listings per launch locality  ·  &gt;8% free-to-paid connect conversion  ·  &gt;40% contact-to-visit rate  ·  &gt;70% of live inventory verified.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2026-07-13T04:59:39Z</dcterms:created>
  <dcterms:modified xsi:type="dcterms:W3CDTF">2026-07-13T04:59:39Z</dcterms:modified>
</cp:coreProperties>
</file>