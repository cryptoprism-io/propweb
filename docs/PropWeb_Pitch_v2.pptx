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0"/>
    <p:sldId id="265" r:id="rId16"/>
    <p:sldId id="266" r:id="rId17"/>
    <p:sldId id="267" r:id="rId18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cold: this is the one-line pitch. Say it, don't read it — "PropWeb is India's trust-first, AI-powered rental platform: verified owners meet verified tenants directly, no brokers, no fake listings, no spam calls." Pause after the tagline before moving to the problem slide — let the promise land before you justify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both columns — don't just read the tenant side. The room already knows renting is broken; the point is naming both sides of the pain so the solution slide lands as a genuine two-sided fix, not a tenant-only app. If asked "isn't this just NoBroker," hold that for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four numbers carry the slide — let them breathe, don't rush to the NoBroker line. The NoBroker callout is the pre-emptive answer to "hasn't this already been solved" — say revenue and loss together, in the same breath: proof of demand, proof the trust layer is still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pillars, but only two are truly new to the room: Pay-to-Connect and the Trust Score — spend your time there. Verified badges and matchmaking are easy to nod along to; the pay-to-connect economics are what actually kills fake enquiries, so be ready to defend the fee-amount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natural hand-off to the live demo — after "Connect," say "and I can show you this right now" and switch to the demo app. Have it already loaded to the Koramangala search before this slide so the transition has no dead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doing double duty as the moat argument, along with the closing slide — scam prevention, background checks and digital agreements are what a trust-first platform can sell that a lead-selling portal structurally can't retrofit. If a CEO asks "why can't NoBroker just copy this," point back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engines, two timeframes — be explicit that "today" funds the company and "tomorrow" is where the real upside is, using NoBroker's own ~50% non-listing mix as the proof point. Don't let this slide turn into a pricing negotiation; final pricing is explicitly TBD with the CEOs.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mic-drop — deliver the two lines slowly, then stop talking. Let "Existing portals sell leads. PropWeb sells trust." sit before you open the floor. If the ask &amp; close slide raised a decision, circle back to it once more before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to pre-empt the "is this market even big enough" question before it's asked — lead with the CAGR, not the dollar figure; growth rate is the more persuasive number in the room. Bengaluru isn't arbitrary: name the three reasons (rental velocity, brokerage pain, digital readiness) so it reads as a decision, not a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 on stage — the point is reassurance, not a systems-design lecture. One sentence: "one well-built application, not eleven fragile services, because we're a five-person team for the first year." If a CEO with a technical background pushes on scaling, the honest answer is that a modular monolith splits into services later without a rewrite — say that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the table row by row — the room doesn't need to know what Typesense is. The only two numbers worth saying out loud are the Algolia cost comparison and the AWS Mumbai/DPDP compliance line, because those are the ones a CEO will actually remember and repeat to an investor.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PROPWEB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28803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trust-first rental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owners meet verified tenants — directly. No brokers, no fake listings, no spam calls. Powered by an AI decision engine.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Pitch · Confidential ·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in India is broken on both sides of the deal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50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listings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flats that are already rented or never existed — posted only to farm leads.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37216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chaos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0873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listed by 10 brokers at different prices and photos.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5093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call storms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4589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enquiry triggers 20–50 broker calls; contact details circulate endlessly.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22402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37960" y="23500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Non-genuine tenants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7157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enquiries and price-fishers waste hours.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6118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37960" y="37216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leaks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0873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don't want their number and exact address public.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4983480"/>
            <a:ext cx="5303520" cy="1207008"/>
          </a:xfrm>
          <a:prstGeom prst="roundRect">
            <a:avLst>
              <a:gd name="adj" fmla="val 6061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5093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load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4589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Juggling tenants, society and security for every viewing.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cost is trust — and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3774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 tenant visits before finding one that fits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56432" y="23774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39312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calls triggered by a single property enquiry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72784" y="23774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55664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on rental portals today: fake &amp; dead listings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89136" y="21031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89136" y="23774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72016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today verifying who is actually a genuine owner or tenant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category leader proves the gap: NoBroker reached </a:t>
            </a:r>
            <a:pPr indent="0" marL="0">
              <a:buNone/>
            </a:pPr>
            <a:r>
              <a:rPr lang="en-US" sz="14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₹803 Cr revenue (FY24)</a:t>
            </a:r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30M+ users — yet lost </a:t>
            </a:r>
            <a:pPr indent="0" marL="0">
              <a:buNone/>
            </a:pPr>
            <a:r>
              <a:rPr lang="en-US" sz="14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₹411 Cr</a:t>
            </a:r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same year, and fake listings remain its #1 complaint. Demand is proven; trust is unsolved.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trust-first rental platform with an AI engine at its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25856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98448" y="22037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Owner Badge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7157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Aadhaar/PAN, ownership proof and mobile verification — instant-trust mark.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7408" y="2057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36008" y="225856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65776" y="22037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Tenant Badge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36008" y="27157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Employment, income range and KYC — owners see who they're renting 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74736" y="20574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03336" y="225856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33104" y="22037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Pay-to-Connect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403336" y="27157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free; contacts unlock for a small fee. Kills fake &amp; casual enquiries.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22452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98448" y="41696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Matchmaking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location, family/bachelor, furnishing — a match score, like matrimony for rentals.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7408" y="40233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636008" y="422452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065776" y="41696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Trust Score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36008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response rate + freshness + reviews — transparency on every listing.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74736" y="402336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403336" y="4224528"/>
            <a:ext cx="292608" cy="292608"/>
          </a:xfrm>
          <a:prstGeom prst="ellipse">
            <a:avLst/>
          </a:prstGeom>
          <a:solidFill>
            <a:srgbClr val="0E6E5C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833104" y="416966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Intelligence, not leads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03336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engine that recommends, ranks and protects — not a directory selling contacts.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verified profile to matched move-in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Verify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30632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tenants complete KYC and earn trust badges before they ever transact.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82112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56432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Match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0" y="30632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 scores and recommends properties against each tenant's real needs.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98464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2784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3952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Connect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73952" y="30632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pay-to-connect fee unlocks contact — only genuine intent gets through.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14816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89136" y="22860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AF3F0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290304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Transact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90304" y="30632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Score, digital rent agreement and verified parties make closing safe and fast.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 — a clickable PropWeb walkthrough (search → trust badges → connect) is ready for this meeting.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VENTURE-SCALE VALUE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no one in India solves well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4505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scam prevention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lose money to fake deposits, fake owners and advance-payment fraud. A trust-first platform wins here.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7408" y="219456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36008" y="24505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background checks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36008" y="32918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want verified employment and income on who they're renting to. Today it's manual or absent. (EPFO checks ≈ ₹100 each — buildable.)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219456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03336" y="24505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rent agreements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03336" y="32918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and offline today. Done digitally — e-stamp + Aadhaar eSign (₹10–40/signature) — like a loan approval.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engines: connect today, services tomorrow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EAF3F0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LISTING &amp; CONNECT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Pay-to-connect: small fee to unlock verified contact details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listings &amp; visibility for owners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4251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Verified-badge and trust-score subscriptions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5029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NoBroker charges ₹1,499–₹10,999 per plan — we undercut with per-unlock micro-pricing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2F7F5"/>
          </a:solidFill>
          <a:ln w="9525">
            <a:solidFill>
              <a:srgbClr val="D8DE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2240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LARGER THAN LISTINGS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2697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services marketplace: packers &amp; movers, cleaning, furniture rental, interiors, property management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3474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move-in opens high-margin services revenue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42519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works: NoBroker's non-listing revenue grew to ~50% of its mix by FY26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5029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when a genuine connection happens — not by reselling the same lead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5544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portals sell leads.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22860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PropWeb sells trust.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Trust-first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4160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owners and tenants on both sides — the moat portals can't retrofit.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2628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26280" y="4160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engine that ranks and matches — not a directory that floods you with calls.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8388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revenue engines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83880" y="4160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fees today; a services marketplace larger than listings tomorrow.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PropWeb · Let's make renting trustworthy.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spc="300">
                <a:solidFill>
                  <a:srgbClr val="0E6E5C"/>
                </a:solidFill>
                <a:latin typeface="Calibri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A large market with an unsolved trust gap.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570586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57058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E6E5C"/>
                </a:solidFill>
                <a:latin typeface="Calibri"/>
              </a:rPr>
              <a:t>$1.3–1.7B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220482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A6270"/>
                </a:solidFill>
                <a:latin typeface="Calibri"/>
              </a:rPr>
              <a:t>India proptech market size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498" y="2103120"/>
            <a:ext cx="2570586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498" y="2377440"/>
            <a:ext cx="257058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E6E5C"/>
                </a:solidFill>
                <a:latin typeface="Calibri"/>
              </a:rPr>
              <a:t>12–19%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3378" y="3291840"/>
            <a:ext cx="220482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A6270"/>
                </a:solidFill>
                <a:latin typeface="Calibri"/>
              </a:rPr>
              <a:t>CAGR — proptech growth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916" y="2103120"/>
            <a:ext cx="2570586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0916" y="2377440"/>
            <a:ext cx="257058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E6E5C"/>
                </a:solidFill>
                <a:latin typeface="Calibri"/>
              </a:rPr>
              <a:t>$20B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3796" y="3291840"/>
            <a:ext cx="220482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A6270"/>
                </a:solidFill>
                <a:latin typeface="Calibri"/>
              </a:rPr>
              <a:t>Indian rental market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1334" y="2103120"/>
            <a:ext cx="2570586" cy="2377440"/>
          </a:xfrm>
          <a:prstGeom prst="roundRect">
            <a:avLst>
              <a:gd name="adj" fmla="val 3077"/>
            </a:avLst>
          </a:prstGeom>
          <a:solidFill>
            <a:srgbClr val="F2F7F5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1334" y="2377440"/>
            <a:ext cx="257058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0E6E5C"/>
                </a:solidFill>
                <a:latin typeface="Calibri"/>
              </a:rPr>
              <a:t>Bengaluru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4214" y="3291840"/>
            <a:ext cx="220482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5A6270"/>
                </a:solidFill>
                <a:latin typeface="Calibri"/>
              </a:rPr>
              <a:t>launch wedge: highest rental velocity, highest brokerage pain, most digitally-ready renters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270"/>
                </a:solidFill>
                <a:latin typeface="Calibri"/>
              </a:rPr>
              <a:t>NoBroker already proved renters will pay to skip brokers — </a:t>
            </a:r>
            <a:r>
              <a:rPr sz="1400" b="1">
                <a:solidFill>
                  <a:srgbClr val="141821"/>
                </a:solidFill>
                <a:latin typeface="Calibri"/>
              </a:rPr>
              <a:t>₹803 Cr revenue, 30M+ users</a:t>
            </a:r>
            <a:r>
              <a:rPr sz="1400" b="0">
                <a:solidFill>
                  <a:srgbClr val="5A6270"/>
                </a:solidFill>
                <a:latin typeface="Calibri"/>
              </a:rPr>
              <a:t> — inside a market growing double-digit. Demand is proven; the trust gap PropWeb targets is still wide open.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spc="300">
                <a:solidFill>
                  <a:srgbClr val="0E6E5C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One well-organised building, not eleven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0911840" cy="3474720"/>
          </a:xfrm>
          <a:prstGeom prst="roundRect">
            <a:avLst>
              <a:gd name="adj" fmla="val 3000"/>
            </a:avLst>
          </a:prstGeom>
          <a:solidFill>
            <a:srgbClr val="F2F7F5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5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1821"/>
                </a:solidFill>
                <a:latin typeface="Calibri"/>
              </a:rPr>
              <a:t>PropWeb — modular monolith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960000"/>
            <a:ext cx="2476500" cy="1000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60000"/>
            <a:ext cx="24765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E6E5C"/>
                </a:solidFill>
                <a:latin typeface="Calibri"/>
              </a:rPr>
              <a:t>Listings &amp;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8060" y="2960000"/>
            <a:ext cx="2476500" cy="1000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8060" y="2960000"/>
            <a:ext cx="24765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E6E5C"/>
                </a:solidFill>
                <a:latin typeface="Calibri"/>
              </a:rPr>
              <a:t>Trust &amp; KYC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440" y="2960000"/>
            <a:ext cx="2476500" cy="1000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440" y="2960000"/>
            <a:ext cx="24765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E6E5C"/>
                </a:solidFill>
                <a:latin typeface="Calibri"/>
              </a:rPr>
              <a:t>Matching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46820" y="2960000"/>
            <a:ext cx="2476500" cy="10000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6820" y="2960000"/>
            <a:ext cx="24765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E6E5C"/>
                </a:solidFill>
                <a:latin typeface="Calibri"/>
              </a:rPr>
              <a:t>Connect &amp; 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38160"/>
            <a:ext cx="1091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A6270"/>
                </a:solidFill>
                <a:latin typeface="Calibri"/>
              </a:rPr>
              <a:t>Small team, one codebase, one language (TypeScript) — ship fast without distributed-systems overhead.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spc="300">
                <a:solidFill>
                  <a:srgbClr val="0E6E5C"/>
                </a:solidFill>
                <a:latin typeface="Calibri"/>
              </a:rPr>
              <a:t>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41821"/>
                </a:solidFill>
                <a:latin typeface="Calibri"/>
              </a:rPr>
              <a:t>A modern stack, corrected for India economics.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1091184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680"/>
                <a:gridCol w="3200000"/>
                <a:gridCol w="4968160"/>
              </a:tblGrid>
              <a:tr h="34545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1821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1821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41821"/>
                          </a:solidFill>
                          <a:latin typeface="Calibri"/>
                        </a:rPr>
                        <a:t>Why it wins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Next.js (React)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SEO locality pages = free Google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Node.js + TypeScript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One language, small team moves fast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PostgreSQL + PostGIS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'Flats within 3 km' queries, reliably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Typesense (self-hosted)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~$69/mo vs Algolia ~$525/mo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Ola Maps / MapmyIndia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Free tier + best Indian locality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AWS Mumbai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KYC data stays in India (DPDP compliance)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Razorpay (UPI-first)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UPI at 0% MDR by RBI mandate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Call masking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Exotel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Virtual numbers keep owner phones private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</a:tr>
              <a:tr h="3454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KYC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Surepass/IDfy class vendors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PAN ≈₹1–3/check; Aadhaar via offline XML/DigiLocker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54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Agreements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Leegality/Digio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A6270"/>
                          </a:solidFill>
                          <a:latin typeface="Calibri"/>
                        </a:rPr>
                        <a:t>Aadhaar eSign ₹10–40/signature + state-wise e-stamping</a:t>
                      </a:r>
                    </a:p>
                  </a:txBody>
                  <a:tcPr>
                    <a:solidFill>
                      <a:srgbClr val="F2F7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100000"/>
            <a:ext cx="1091184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270"/>
                </a:solidFill>
                <a:latin typeface="Calibri"/>
              </a:rPr>
              <a:t>Cost traps avoided: Typesense keeps ~80% of Algolia's power at ~20% of the cost; Google Maps stays a free-tier fallback, not the primary, ahead of its post-2027 pricing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2026-07-13T04:59:39Z</dcterms:created>
  <dcterms:modified xsi:type="dcterms:W3CDTF">2026-07-13T04:59:39Z</dcterms:modified>
</cp:coreProperties>
</file>