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8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2880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PROPWEB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868680" y="288036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8A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trust-first rental platform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68680" y="352044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owners meet verified tenants — directly. No brokers, no fake listings, no spam calls. Powered by an AI decision engine.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Pitch · Confidential · July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Renting in India is broken on both sides of the deal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309360" y="178308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240280"/>
            <a:ext cx="5303520" cy="1207008"/>
          </a:xfrm>
          <a:prstGeom prst="roundRect">
            <a:avLst>
              <a:gd name="adj" fmla="val 6061"/>
            </a:avLst>
          </a:prstGeom>
          <a:solidFill>
            <a:srgbClr val="F2F7F5"/>
          </a:solidFill>
          <a:ln w="9525">
            <a:solidFill>
              <a:srgbClr val="D8DE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35000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listings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2715768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Attractive flats that are already rented or never existed — posted only to farm leads.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3611880"/>
            <a:ext cx="5303520" cy="1207008"/>
          </a:xfrm>
          <a:prstGeom prst="roundRect">
            <a:avLst>
              <a:gd name="adj" fmla="val 6061"/>
            </a:avLst>
          </a:prstGeom>
          <a:solidFill>
            <a:srgbClr val="F2F7F5"/>
          </a:solidFill>
          <a:ln w="9525">
            <a:solidFill>
              <a:srgbClr val="D8DE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72160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chaos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68680" y="4087368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flat listed by 10 brokers at different prices and photos.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4983480"/>
            <a:ext cx="5303520" cy="1207008"/>
          </a:xfrm>
          <a:prstGeom prst="roundRect">
            <a:avLst>
              <a:gd name="adj" fmla="val 6061"/>
            </a:avLst>
          </a:prstGeom>
          <a:solidFill>
            <a:srgbClr val="F2F7F5"/>
          </a:solidFill>
          <a:ln w="9525">
            <a:solidFill>
              <a:srgbClr val="D8DE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509320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call storms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68680" y="5458968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enquiry triggers 20–50 broker calls; contact details circulate endlessly.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309360" y="2240280"/>
            <a:ext cx="5303520" cy="1207008"/>
          </a:xfrm>
          <a:prstGeom prst="roundRect">
            <a:avLst>
              <a:gd name="adj" fmla="val 6061"/>
            </a:avLst>
          </a:prstGeom>
          <a:solidFill>
            <a:srgbClr val="F2F7F5"/>
          </a:solidFill>
          <a:ln w="9525">
            <a:solidFill>
              <a:srgbClr val="D8DE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37960" y="235000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Non-genuine tenants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537960" y="2715768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Unqualified enquiries and price-fishers waste hours.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309360" y="3611880"/>
            <a:ext cx="5303520" cy="1207008"/>
          </a:xfrm>
          <a:prstGeom prst="roundRect">
            <a:avLst>
              <a:gd name="adj" fmla="val 6061"/>
            </a:avLst>
          </a:prstGeom>
          <a:solidFill>
            <a:srgbClr val="F2F7F5"/>
          </a:solidFill>
          <a:ln w="9525">
            <a:solidFill>
              <a:srgbClr val="D8DEE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372160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leaks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37960" y="4087368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 don't want their number and exact address public.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309360" y="4983480"/>
            <a:ext cx="5303520" cy="1207008"/>
          </a:xfrm>
          <a:prstGeom prst="roundRect">
            <a:avLst>
              <a:gd name="adj" fmla="val 6061"/>
            </a:avLst>
          </a:prstGeom>
          <a:solidFill>
            <a:srgbClr val="F2F7F5"/>
          </a:solidFill>
          <a:ln w="9525">
            <a:solidFill>
              <a:srgbClr val="D8DEE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37960" y="509320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 load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537960" y="5458968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Juggling tenants, society and security for every viewing.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hidden cost is trust — and time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2F7F5"/>
          </a:solidFill>
          <a:ln w="9525">
            <a:solidFill>
              <a:srgbClr val="D8DE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377440"/>
            <a:ext cx="2606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E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10–20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291840"/>
            <a:ext cx="2240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 a tenant visits before finding one that fits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456432" y="210312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2F7F5"/>
          </a:solidFill>
          <a:ln w="9525">
            <a:solidFill>
              <a:srgbClr val="D8DE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56432" y="2377440"/>
            <a:ext cx="2606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E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20–50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639312" y="3291840"/>
            <a:ext cx="2240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calls triggered by a single property enquiry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72784" y="210312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2F7F5"/>
          </a:solidFill>
          <a:ln w="9525">
            <a:solidFill>
              <a:srgbClr val="D8DE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72784" y="2377440"/>
            <a:ext cx="2606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E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455664" y="3291840"/>
            <a:ext cx="2240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on rental portals today: fake &amp; dead listings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089136" y="210312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2F7F5"/>
          </a:solidFill>
          <a:ln w="9525">
            <a:solidFill>
              <a:srgbClr val="D8DE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89136" y="2377440"/>
            <a:ext cx="2606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E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9272016" y="3291840"/>
            <a:ext cx="2240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spent today verifying who is actually a genuine owner or tenant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0080" y="48920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the category leader proves the gap: NoBroker reached </a:t>
            </a:r>
            <a:pPr indent="0" marL="0">
              <a:buNone/>
            </a:pPr>
            <a:r>
              <a:rPr lang="en-US" sz="140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₹803 Cr revenue (FY24)</a:t>
            </a:r>
            <a:pPr indent="0" marL="0">
              <a:buNone/>
            </a:pPr>
            <a:r>
              <a:rPr lang="en-US" sz="14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30M+ users — yet lost </a:t>
            </a:r>
            <a:pPr indent="0" marL="0">
              <a:buNone/>
            </a:pPr>
            <a:r>
              <a:rPr lang="en-US" sz="140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₹411 Cr</a:t>
            </a:r>
            <a:pPr indent="0" marL="0">
              <a:buNone/>
            </a:pPr>
            <a:r>
              <a:rPr lang="en-US" sz="14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same year, and fake listings remain its #1 complaint. Demand is proven; trust is unsolved.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trust-first rental platform with an AI engine at its core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3566160" cy="1783080"/>
          </a:xfrm>
          <a:prstGeom prst="roundRect">
            <a:avLst>
              <a:gd name="adj" fmla="val 4103"/>
            </a:avLst>
          </a:prstGeom>
          <a:solidFill>
            <a:srgbClr val="F2F7F5"/>
          </a:solidFill>
          <a:ln w="9525">
            <a:solidFill>
              <a:srgbClr val="D8DE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258568"/>
            <a:ext cx="292608" cy="292608"/>
          </a:xfrm>
          <a:prstGeom prst="ellipse">
            <a:avLst/>
          </a:prstGeom>
          <a:solidFill>
            <a:srgbClr val="0E6E5C"/>
          </a:solidFill>
          <a:ln/>
        </p:spPr>
      </p:sp>
      <p:sp>
        <p:nvSpPr>
          <p:cNvPr id="6" name="Text 4"/>
          <p:cNvSpPr/>
          <p:nvPr/>
        </p:nvSpPr>
        <p:spPr>
          <a:xfrm>
            <a:off x="1298448" y="2203704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Owner Badge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68680" y="2715768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Aadhaar/PAN, ownership proof and mobile verification — instant-trust mark.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07408" y="2057400"/>
            <a:ext cx="3566160" cy="1783080"/>
          </a:xfrm>
          <a:prstGeom prst="roundRect">
            <a:avLst>
              <a:gd name="adj" fmla="val 4103"/>
            </a:avLst>
          </a:prstGeom>
          <a:solidFill>
            <a:srgbClr val="F2F7F5"/>
          </a:solidFill>
          <a:ln w="9525">
            <a:solidFill>
              <a:srgbClr val="D8DE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36008" y="2258568"/>
            <a:ext cx="292608" cy="292608"/>
          </a:xfrm>
          <a:prstGeom prst="ellipse">
            <a:avLst/>
          </a:prstGeom>
          <a:solidFill>
            <a:srgbClr val="0E6E5C"/>
          </a:solidFill>
          <a:ln/>
        </p:spPr>
      </p:sp>
      <p:sp>
        <p:nvSpPr>
          <p:cNvPr id="10" name="Text 8"/>
          <p:cNvSpPr/>
          <p:nvPr/>
        </p:nvSpPr>
        <p:spPr>
          <a:xfrm>
            <a:off x="5065776" y="2203704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Tenant Badge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636008" y="2715768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Employment, income range and KYC — owners see who they're renting to.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74736" y="2057400"/>
            <a:ext cx="3566160" cy="1783080"/>
          </a:xfrm>
          <a:prstGeom prst="roundRect">
            <a:avLst>
              <a:gd name="adj" fmla="val 4103"/>
            </a:avLst>
          </a:prstGeom>
          <a:solidFill>
            <a:srgbClr val="F2F7F5"/>
          </a:solidFill>
          <a:ln w="9525">
            <a:solidFill>
              <a:srgbClr val="D8DEE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03336" y="2258568"/>
            <a:ext cx="292608" cy="292608"/>
          </a:xfrm>
          <a:prstGeom prst="ellipse">
            <a:avLst/>
          </a:prstGeom>
          <a:solidFill>
            <a:srgbClr val="0E6E5C"/>
          </a:solidFill>
          <a:ln/>
        </p:spPr>
      </p:sp>
      <p:sp>
        <p:nvSpPr>
          <p:cNvPr id="14" name="Text 12"/>
          <p:cNvSpPr/>
          <p:nvPr/>
        </p:nvSpPr>
        <p:spPr>
          <a:xfrm>
            <a:off x="8833104" y="2203704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Pay-to-Connect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403336" y="2715768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Browsing free; contacts unlock for a small fee. Kills fake &amp; casual enquiries.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023360"/>
            <a:ext cx="3566160" cy="1783080"/>
          </a:xfrm>
          <a:prstGeom prst="roundRect">
            <a:avLst>
              <a:gd name="adj" fmla="val 4103"/>
            </a:avLst>
          </a:prstGeom>
          <a:solidFill>
            <a:srgbClr val="F2F7F5"/>
          </a:solidFill>
          <a:ln w="9525">
            <a:solidFill>
              <a:srgbClr val="D8DEE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4224528"/>
            <a:ext cx="292608" cy="292608"/>
          </a:xfrm>
          <a:prstGeom prst="ellipse">
            <a:avLst/>
          </a:prstGeom>
          <a:solidFill>
            <a:srgbClr val="0E6E5C"/>
          </a:solidFill>
          <a:ln/>
        </p:spPr>
      </p:sp>
      <p:sp>
        <p:nvSpPr>
          <p:cNvPr id="18" name="Text 16"/>
          <p:cNvSpPr/>
          <p:nvPr/>
        </p:nvSpPr>
        <p:spPr>
          <a:xfrm>
            <a:off x="1298448" y="4169664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Matchmaking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68680" y="4681728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Budget, location, family/bachelor, furnishing — a match score, like matrimony for rentals.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407408" y="4023360"/>
            <a:ext cx="3566160" cy="1783080"/>
          </a:xfrm>
          <a:prstGeom prst="roundRect">
            <a:avLst>
              <a:gd name="adj" fmla="val 4103"/>
            </a:avLst>
          </a:prstGeom>
          <a:solidFill>
            <a:srgbClr val="F2F7F5"/>
          </a:solidFill>
          <a:ln w="9525">
            <a:solidFill>
              <a:srgbClr val="D8DEE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36008" y="4224528"/>
            <a:ext cx="292608" cy="292608"/>
          </a:xfrm>
          <a:prstGeom prst="ellipse">
            <a:avLst/>
          </a:prstGeom>
          <a:solidFill>
            <a:srgbClr val="0E6E5C"/>
          </a:solidFill>
          <a:ln/>
        </p:spPr>
      </p:sp>
      <p:sp>
        <p:nvSpPr>
          <p:cNvPr id="22" name="Text 20"/>
          <p:cNvSpPr/>
          <p:nvPr/>
        </p:nvSpPr>
        <p:spPr>
          <a:xfrm>
            <a:off x="5065776" y="4169664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Rental Trust Score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636008" y="4681728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+ response rate + freshness + reviews — transparency on every listing.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174736" y="4023360"/>
            <a:ext cx="3566160" cy="1783080"/>
          </a:xfrm>
          <a:prstGeom prst="roundRect">
            <a:avLst>
              <a:gd name="adj" fmla="val 4103"/>
            </a:avLst>
          </a:prstGeom>
          <a:solidFill>
            <a:srgbClr val="F2F7F5"/>
          </a:solidFill>
          <a:ln w="9525">
            <a:solidFill>
              <a:srgbClr val="D8DEE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403336" y="4224528"/>
            <a:ext cx="292608" cy="292608"/>
          </a:xfrm>
          <a:prstGeom prst="ellipse">
            <a:avLst/>
          </a:prstGeom>
          <a:solidFill>
            <a:srgbClr val="0E6E5C"/>
          </a:solidFill>
          <a:ln/>
        </p:spPr>
      </p:sp>
      <p:sp>
        <p:nvSpPr>
          <p:cNvPr id="26" name="Text 24"/>
          <p:cNvSpPr/>
          <p:nvPr/>
        </p:nvSpPr>
        <p:spPr>
          <a:xfrm>
            <a:off x="8833104" y="4169664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Intelligence, not leads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8403336" y="4681728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engine that recommends, ranks and protects — not a directory selling contacts.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verified profile to matched move-in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2606040" cy="2651760"/>
          </a:xfrm>
          <a:prstGeom prst="roundRect">
            <a:avLst>
              <a:gd name="adj" fmla="val 2807"/>
            </a:avLst>
          </a:prstGeom>
          <a:solidFill>
            <a:srgbClr val="F2F7F5"/>
          </a:solidFill>
          <a:ln w="9525">
            <a:solidFill>
              <a:srgbClr val="D8DE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251460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Verify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41248" y="3063240"/>
            <a:ext cx="2240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 and tenants complete KYC and earn trust badges before they ever transact.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182112" y="32461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A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456432" y="2286000"/>
            <a:ext cx="2606040" cy="2651760"/>
          </a:xfrm>
          <a:prstGeom prst="roundRect">
            <a:avLst>
              <a:gd name="adj" fmla="val 2807"/>
            </a:avLst>
          </a:prstGeom>
          <a:solidFill>
            <a:srgbClr val="F2F7F5"/>
          </a:solidFill>
          <a:ln w="9525">
            <a:solidFill>
              <a:srgbClr val="D8DE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0" y="251460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Match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657600" y="3063240"/>
            <a:ext cx="2240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engine scores and recommends properties against each tenant's real needs.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998464" y="32461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A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272784" y="2286000"/>
            <a:ext cx="2606040" cy="2651760"/>
          </a:xfrm>
          <a:prstGeom prst="roundRect">
            <a:avLst>
              <a:gd name="adj" fmla="val 2807"/>
            </a:avLst>
          </a:prstGeom>
          <a:solidFill>
            <a:srgbClr val="F2F7F5"/>
          </a:solidFill>
          <a:ln w="9525">
            <a:solidFill>
              <a:srgbClr val="D8DE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73952" y="251460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Connect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473952" y="3063240"/>
            <a:ext cx="2240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pay-to-connect fee unlocks contact — only genuine intent gets through.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814816" y="32461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A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9089136" y="2286000"/>
            <a:ext cx="2606040" cy="2651760"/>
          </a:xfrm>
          <a:prstGeom prst="roundRect">
            <a:avLst>
              <a:gd name="adj" fmla="val 2807"/>
            </a:avLst>
          </a:prstGeom>
          <a:solidFill>
            <a:srgbClr val="EAF3F0"/>
          </a:solidFill>
          <a:ln w="9525">
            <a:solidFill>
              <a:srgbClr val="D8DE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90304" y="251460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Transact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9290304" y="3063240"/>
            <a:ext cx="2240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Score, digital rent agreement and verified parties make closing safe and fast.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0080" y="53492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E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available — a clickable PropWeb walkthrough (search → trust badges → connect) is ready for this meeting.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VENTURE-SCALE VALUE SITS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no one in India solves well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3566160" cy="2926080"/>
          </a:xfrm>
          <a:prstGeom prst="roundRect">
            <a:avLst>
              <a:gd name="adj" fmla="val 2500"/>
            </a:avLst>
          </a:prstGeom>
          <a:solidFill>
            <a:srgbClr val="F2F7F5"/>
          </a:solidFill>
          <a:ln w="9525">
            <a:solidFill>
              <a:srgbClr val="D8DE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450592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Rental scam prevention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3291840"/>
            <a:ext cx="31089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lose money to fake deposits, fake owners and advance-payment fraud. A trust-first platform wins here.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407408" y="2194560"/>
            <a:ext cx="3566160" cy="2926080"/>
          </a:xfrm>
          <a:prstGeom prst="roundRect">
            <a:avLst>
              <a:gd name="adj" fmla="val 2500"/>
            </a:avLst>
          </a:prstGeom>
          <a:solidFill>
            <a:srgbClr val="F2F7F5"/>
          </a:solidFill>
          <a:ln w="9525">
            <a:solidFill>
              <a:srgbClr val="D8DE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36008" y="2450592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background checks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636008" y="3291840"/>
            <a:ext cx="31089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 want verified employment and income on who they're renting to. Today it's manual or absent. (EPFO checks ≈ ₹100 each — buildable.)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174736" y="2194560"/>
            <a:ext cx="3566160" cy="2926080"/>
          </a:xfrm>
          <a:prstGeom prst="roundRect">
            <a:avLst>
              <a:gd name="adj" fmla="val 2500"/>
            </a:avLst>
          </a:prstGeom>
          <a:solidFill>
            <a:srgbClr val="F2F7F5"/>
          </a:solidFill>
          <a:ln w="9525">
            <a:solidFill>
              <a:srgbClr val="D8DE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03336" y="2450592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rent agreements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03336" y="3291840"/>
            <a:ext cx="31089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and offline today. Done digitally — e-stamp + Aadhaar eSign (₹10–40/signature) — like a loan approval.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engines: connect today, services tomorrow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303520" cy="3931920"/>
          </a:xfrm>
          <a:prstGeom prst="roundRect">
            <a:avLst>
              <a:gd name="adj" fmla="val 1860"/>
            </a:avLst>
          </a:prstGeom>
          <a:solidFill>
            <a:srgbClr val="EAF3F0"/>
          </a:solidFill>
          <a:ln w="9525">
            <a:solidFill>
              <a:srgbClr val="D8DE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2402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— LISTING &amp; CONNECT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51560" y="269748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Pay-to-connect: small fee to unlock verified contact details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051560" y="347472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listings &amp; visibility for owners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051560" y="425196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Verified-badge and trust-score subscriptions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51560" y="502920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Benchmark: NoBroker charges ₹1,499–₹10,999 per plan — we undercut with per-unlock micro-pricing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09360" y="2011680"/>
            <a:ext cx="5303520" cy="3931920"/>
          </a:xfrm>
          <a:prstGeom prst="roundRect">
            <a:avLst>
              <a:gd name="adj" fmla="val 1860"/>
            </a:avLst>
          </a:prstGeom>
          <a:solidFill>
            <a:srgbClr val="F2F7F5"/>
          </a:solidFill>
          <a:ln w="9525">
            <a:solidFill>
              <a:srgbClr val="D8DE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22402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 — LARGER THAN LISTINGS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720840" y="269748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Affiliate services marketplace: packers &amp; movers, cleaning, furniture rental, interiors, property management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720840" y="347472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move-in opens high-margin services revenue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720840" y="425196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it works: NoBroker's non-listing revenue grew to ~50% of its mix by FY26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720840" y="502920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earn when a genuine connection happens — not by reselling the same lead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SCALE — COST-SAFE BY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modern stack, corrected for India economics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74520"/>
          <a:ext cx="109728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4206240"/>
                <a:gridCol w="50292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it wins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5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18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18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Next.js (React)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18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SEO locality pages = free Google traffic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18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18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Node.js + TypeScript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18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language, small team moves fast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18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18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 + PostGIS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18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'Flats within 3 km' queries, reliably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18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18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Typesense (self-hosted)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18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≈$69/mo vs Algolia's ≈$525/mo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18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18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Ola Maps / MapmyIndia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18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tier + best Indian locality data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18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18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Mumbai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18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KYC data stays in India (DPDP)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18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18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Razorpay (UPI-first)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18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UPI at 0% MDR by RBI mandate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18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Trust APIs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18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 ₹1–3 · Aadhaar offline/DigiLocker · Exotel masking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18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legal Aadhaar route — no direct eKYC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5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9893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build budget: ₹68L lean · ₹1.14 Cr base · ₹1.78 Cr comfortable — team of 5–6 + fractional roles, one-city MVP in 4 months.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8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1554480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portals sell leads.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68680" y="228600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A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PropWeb sells trust.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68680" y="36576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Trust-first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68680" y="416052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owners and tenants on both sides — the moat portals can't retrofit.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526280" y="36576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26280" y="416052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decision engine that ranks and matches — not a directory that floods you with calls.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183880" y="36576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revenue engines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183880" y="416052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fees today; a services marketplace larger than listings tomorrow.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68680" y="5943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PropWeb · Let's make renting trustworthy.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2026-07-13T04:59:39Z</dcterms:created>
  <dcterms:modified xsi:type="dcterms:W3CDTF">2026-07-13T04:59:39Z</dcterms:modified>
</cp:coreProperties>
</file>